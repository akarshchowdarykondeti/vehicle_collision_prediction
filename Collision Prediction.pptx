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1"/>
  </p:sldMasterIdLst>
  <p:sldIdLst>
    <p:sldId id="274" r:id="rId2"/>
    <p:sldId id="275" r:id="rId3"/>
    <p:sldId id="276" r:id="rId4"/>
    <p:sldId id="277" r:id="rId5"/>
    <p:sldId id="279" r:id="rId6"/>
    <p:sldId id="257" r:id="rId7"/>
    <p:sldId id="258" r:id="rId8"/>
    <p:sldId id="259" r:id="rId9"/>
    <p:sldId id="278" r:id="rId10"/>
    <p:sldId id="260" r:id="rId11"/>
    <p:sldId id="261" r:id="rId12"/>
    <p:sldId id="262" r:id="rId13"/>
    <p:sldId id="263" r:id="rId14"/>
    <p:sldId id="264" r:id="rId15"/>
    <p:sldId id="265" r:id="rId16"/>
    <p:sldId id="266" r:id="rId17"/>
    <p:sldId id="267" r:id="rId18"/>
    <p:sldId id="280" r:id="rId19"/>
    <p:sldId id="268" r:id="rId20"/>
    <p:sldId id="269" r:id="rId21"/>
    <p:sldId id="270" r:id="rId22"/>
    <p:sldId id="281" r:id="rId23"/>
    <p:sldId id="283" r:id="rId24"/>
    <p:sldId id="284" r:id="rId25"/>
    <p:sldId id="282" r:id="rId26"/>
    <p:sldId id="286" r:id="rId27"/>
    <p:sldId id="28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A499E3-CD15-7211-BD4A-5B5B960C329E}" v="27" dt="2026-03-11T06:50:37.707"/>
    <p1510:client id="{DC15A310-3634-2EEB-10C7-FF78C3DD713F}" v="571" dt="2026-03-11T06:49:14.1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09397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879983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10109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38007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3/10/2026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16085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3/10/2026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26229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3/10/2026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81389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84580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99619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63060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4924524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64046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83115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454550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41534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06764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3/10/2026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3087906403"/>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71C8B-B1E6-E4E8-8A25-9A6203204AFB}"/>
              </a:ext>
            </a:extLst>
          </p:cNvPr>
          <p:cNvSpPr>
            <a:spLocks noGrp="1"/>
          </p:cNvSpPr>
          <p:nvPr>
            <p:ph type="ctrTitle"/>
          </p:nvPr>
        </p:nvSpPr>
        <p:spPr>
          <a:xfrm>
            <a:off x="2028496" y="1896373"/>
            <a:ext cx="8915399" cy="2262781"/>
          </a:xfrm>
        </p:spPr>
        <p:txBody>
          <a:bodyPr>
            <a:normAutofit/>
          </a:bodyPr>
          <a:lstStyle/>
          <a:p>
            <a:r>
              <a:rPr lang="en-US">
                <a:latin typeface="Times New Roman"/>
                <a:ea typeface="+mj-lt"/>
                <a:cs typeface="Times New Roman"/>
              </a:rPr>
              <a:t>Vehicle Collision Prediction Using </a:t>
            </a:r>
            <a:r>
              <a:rPr lang="en-US" err="1">
                <a:latin typeface="Times New Roman"/>
                <a:ea typeface="+mj-lt"/>
                <a:cs typeface="Times New Roman"/>
              </a:rPr>
              <a:t>FastAPI</a:t>
            </a:r>
            <a:r>
              <a:rPr lang="en-US">
                <a:latin typeface="Times New Roman"/>
                <a:ea typeface="+mj-lt"/>
                <a:cs typeface="Times New Roman"/>
              </a:rPr>
              <a:t> &amp; ML </a:t>
            </a:r>
            <a:endParaRPr lang="en-US">
              <a:latin typeface="Times New Roman"/>
              <a:cs typeface="Times New Roman"/>
            </a:endParaRPr>
          </a:p>
        </p:txBody>
      </p:sp>
      <p:sp>
        <p:nvSpPr>
          <p:cNvPr id="3" name="Subtitle 2">
            <a:extLst>
              <a:ext uri="{FF2B5EF4-FFF2-40B4-BE49-F238E27FC236}">
                <a16:creationId xmlns:a16="http://schemas.microsoft.com/office/drawing/2014/main" id="{5C13B88A-ED0D-C40C-C18F-E079BFF6DBEE}"/>
              </a:ext>
            </a:extLst>
          </p:cNvPr>
          <p:cNvSpPr>
            <a:spLocks noGrp="1"/>
          </p:cNvSpPr>
          <p:nvPr>
            <p:ph type="subTitle" idx="1"/>
          </p:nvPr>
        </p:nvSpPr>
        <p:spPr>
          <a:xfrm>
            <a:off x="8728345" y="4777379"/>
            <a:ext cx="2776267" cy="1126283"/>
          </a:xfrm>
        </p:spPr>
        <p:txBody>
          <a:bodyPr>
            <a:normAutofit lnSpcReduction="10000"/>
          </a:bodyPr>
          <a:lstStyle/>
          <a:p>
            <a:r>
              <a:rPr lang="en-US" b="1">
                <a:solidFill>
                  <a:schemeClr val="tx1"/>
                </a:solidFill>
                <a:latin typeface="Times New Roman"/>
                <a:ea typeface="+mn-lt"/>
                <a:cs typeface="Times New Roman"/>
              </a:rPr>
              <a:t>K. Akarsh Chowdary</a:t>
            </a:r>
            <a:endParaRPr lang="en-US" b="1">
              <a:solidFill>
                <a:schemeClr val="tx1"/>
              </a:solidFill>
              <a:latin typeface="Times New Roman"/>
              <a:cs typeface="Times New Roman"/>
            </a:endParaRPr>
          </a:p>
          <a:p>
            <a:r>
              <a:rPr lang="en-US" b="1">
                <a:solidFill>
                  <a:schemeClr val="tx1"/>
                </a:solidFill>
                <a:latin typeface="Times New Roman"/>
                <a:cs typeface="Times New Roman"/>
              </a:rPr>
              <a:t>K. Amit </a:t>
            </a:r>
          </a:p>
          <a:p>
            <a:r>
              <a:rPr lang="en-US" b="1">
                <a:solidFill>
                  <a:schemeClr val="tx1"/>
                </a:solidFill>
                <a:latin typeface="Times New Roman"/>
                <a:cs typeface="Times New Roman"/>
              </a:rPr>
              <a:t>B . V. Suneel Kumar</a:t>
            </a:r>
          </a:p>
        </p:txBody>
      </p:sp>
      <p:pic>
        <p:nvPicPr>
          <p:cNvPr id="5" name="Picture 4">
            <a:extLst>
              <a:ext uri="{FF2B5EF4-FFF2-40B4-BE49-F238E27FC236}">
                <a16:creationId xmlns:a16="http://schemas.microsoft.com/office/drawing/2014/main" id="{12512726-263B-08B4-EA8E-8AC00E13FD48}"/>
              </a:ext>
            </a:extLst>
          </p:cNvPr>
          <p:cNvPicPr>
            <a:picLocks noChangeAspect="1"/>
          </p:cNvPicPr>
          <p:nvPr/>
        </p:nvPicPr>
        <p:blipFill>
          <a:blip r:embed="rId2"/>
          <a:srcRect l="-230880" t="-140541" r="231451" b="139189"/>
          <a:stretch>
            <a:fillRect/>
          </a:stretch>
        </p:blipFill>
        <p:spPr>
          <a:xfrm>
            <a:off x="1790700" y="1716657"/>
            <a:ext cx="2500231" cy="1081218"/>
          </a:xfrm>
          <a:prstGeom prst="rect">
            <a:avLst/>
          </a:prstGeom>
        </p:spPr>
      </p:pic>
    </p:spTree>
    <p:extLst>
      <p:ext uri="{BB962C8B-B14F-4D97-AF65-F5344CB8AC3E}">
        <p14:creationId xmlns:p14="http://schemas.microsoft.com/office/powerpoint/2010/main" val="52594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CFB3D-BA0E-E5E1-3E89-E85F13211713}"/>
              </a:ext>
            </a:extLst>
          </p:cNvPr>
          <p:cNvSpPr>
            <a:spLocks noGrp="1"/>
          </p:cNvSpPr>
          <p:nvPr>
            <p:ph type="title"/>
          </p:nvPr>
        </p:nvSpPr>
        <p:spPr>
          <a:xfrm>
            <a:off x="1644019" y="624110"/>
            <a:ext cx="8911687" cy="1280890"/>
          </a:xfrm>
        </p:spPr>
        <p:txBody>
          <a:bodyPr/>
          <a:lstStyle/>
          <a:p>
            <a:r>
              <a:rPr lang="en-US">
                <a:latin typeface="Times New Roman"/>
                <a:ea typeface="+mj-lt"/>
                <a:cs typeface="Times New Roman"/>
              </a:rPr>
              <a:t>Problem Statement</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2C9DC76C-65E7-2AD8-1CA7-BFA622749087}"/>
              </a:ext>
            </a:extLst>
          </p:cNvPr>
          <p:cNvSpPr>
            <a:spLocks noGrp="1"/>
          </p:cNvSpPr>
          <p:nvPr>
            <p:ph idx="1"/>
          </p:nvPr>
        </p:nvSpPr>
        <p:spPr>
          <a:xfrm>
            <a:off x="2186646" y="2176733"/>
            <a:ext cx="8915400" cy="3777622"/>
          </a:xfrm>
        </p:spPr>
        <p:txBody>
          <a:bodyPr vert="horz" lIns="91440" tIns="45720" rIns="91440" bIns="45720" rtlCol="0" anchor="t">
            <a:normAutofit/>
          </a:bodyPr>
          <a:lstStyle/>
          <a:p>
            <a:pPr>
              <a:buFont typeface="Arial" charset="2"/>
              <a:buChar char="•"/>
            </a:pPr>
            <a:r>
              <a:rPr lang="en-US" sz="2000">
                <a:solidFill>
                  <a:schemeClr val="tx1">
                    <a:lumMod val="76000"/>
                    <a:lumOff val="24000"/>
                  </a:schemeClr>
                </a:solidFill>
                <a:latin typeface="Times New Roman"/>
                <a:ea typeface="+mn-lt"/>
                <a:cs typeface="Times New Roman"/>
              </a:rPr>
              <a:t>Existing vehicle safety systems rely mainly on fixed rule-based thresholds to detect potential collisions. These systems lack the ability to intelligently analyze driving parameters in real time and accurately classify different levels of collision risk. Additionally, many existing solutions do not provide persistent data storage, which limits capabilities for continuous monitoring, auditing, and performance analysis.</a:t>
            </a:r>
            <a:endParaRPr lang="en-US" sz="2000">
              <a:solidFill>
                <a:schemeClr val="tx1">
                  <a:lumMod val="76000"/>
                  <a:lumOff val="24000"/>
                </a:schemeClr>
              </a:solidFill>
              <a:latin typeface="Times New Roman"/>
              <a:cs typeface="Times New Roman"/>
            </a:endParaRPr>
          </a:p>
        </p:txBody>
      </p:sp>
    </p:spTree>
    <p:extLst>
      <p:ext uri="{BB962C8B-B14F-4D97-AF65-F5344CB8AC3E}">
        <p14:creationId xmlns:p14="http://schemas.microsoft.com/office/powerpoint/2010/main" val="3654130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5AE3A-D505-C00B-1EA4-B6BF1DAB9468}"/>
              </a:ext>
            </a:extLst>
          </p:cNvPr>
          <p:cNvSpPr>
            <a:spLocks noGrp="1"/>
          </p:cNvSpPr>
          <p:nvPr>
            <p:ph type="title"/>
          </p:nvPr>
        </p:nvSpPr>
        <p:spPr>
          <a:xfrm>
            <a:off x="1644019" y="667242"/>
            <a:ext cx="8911687" cy="1280890"/>
          </a:xfrm>
        </p:spPr>
        <p:txBody>
          <a:bodyPr/>
          <a:lstStyle/>
          <a:p>
            <a:r>
              <a:rPr lang="en-US">
                <a:latin typeface="Times New Roman"/>
                <a:cs typeface="Times New Roman"/>
              </a:rPr>
              <a:t>Objectives</a:t>
            </a:r>
          </a:p>
        </p:txBody>
      </p:sp>
      <p:sp>
        <p:nvSpPr>
          <p:cNvPr id="3" name="Content Placeholder 2">
            <a:extLst>
              <a:ext uri="{FF2B5EF4-FFF2-40B4-BE49-F238E27FC236}">
                <a16:creationId xmlns:a16="http://schemas.microsoft.com/office/drawing/2014/main" id="{030969A8-4A2A-F678-860D-9789B5E14F19}"/>
              </a:ext>
            </a:extLst>
          </p:cNvPr>
          <p:cNvSpPr>
            <a:spLocks noGrp="1"/>
          </p:cNvSpPr>
          <p:nvPr>
            <p:ph idx="1"/>
          </p:nvPr>
        </p:nvSpPr>
        <p:spPr>
          <a:xfrm>
            <a:off x="2258533" y="1515373"/>
            <a:ext cx="8915400" cy="5344753"/>
          </a:xfrm>
        </p:spPr>
        <p:txBody>
          <a:bodyPr vert="horz" lIns="91440" tIns="45720" rIns="91440" bIns="45720" rtlCol="0" anchor="t">
            <a:normAutofit lnSpcReduction="10000"/>
          </a:bodyPr>
          <a:lstStyle/>
          <a:p>
            <a:pPr marL="0" indent="0">
              <a:buNone/>
            </a:pPr>
            <a:r>
              <a:rPr lang="en-US" b="1">
                <a:latin typeface="Times New Roman"/>
                <a:ea typeface="+mn-lt"/>
                <a:cs typeface="Times New Roman"/>
              </a:rPr>
              <a:t>Create Dataset</a:t>
            </a:r>
            <a:endParaRPr lang="en-US" b="1"/>
          </a:p>
          <a:p>
            <a:pPr>
              <a:buFont typeface="Arial" charset="2"/>
              <a:buChar char="•"/>
            </a:pPr>
            <a:r>
              <a:rPr lang="en-US">
                <a:latin typeface="Times New Roman"/>
                <a:ea typeface="+mn-lt"/>
                <a:cs typeface="Times New Roman"/>
              </a:rPr>
              <a:t>Generate a synthetic vehicle sensor dataset using Python's random module with noise simulation (1000 samples) covering safe, risk, and high-risk scenarios.</a:t>
            </a:r>
          </a:p>
          <a:p>
            <a:pPr marL="0" indent="0">
              <a:buNone/>
            </a:pPr>
            <a:r>
              <a:rPr lang="en-US" b="1">
                <a:latin typeface="Times New Roman"/>
                <a:ea typeface="+mn-lt"/>
                <a:cs typeface="Times New Roman"/>
              </a:rPr>
              <a:t>Train an ML Model</a:t>
            </a:r>
          </a:p>
          <a:p>
            <a:pPr>
              <a:buFont typeface="Arial" charset="2"/>
              <a:buChar char="•"/>
            </a:pPr>
            <a:r>
              <a:rPr lang="en-US">
                <a:latin typeface="Times New Roman"/>
                <a:ea typeface="+mn-lt"/>
                <a:cs typeface="Times New Roman"/>
              </a:rPr>
              <a:t>Build a classifier with Random Forest Algorithm and hyperparameter tuning and cross-validation to accurately predict vehicle safety status.</a:t>
            </a:r>
          </a:p>
          <a:p>
            <a:pPr marL="0" indent="0">
              <a:buNone/>
            </a:pPr>
            <a:r>
              <a:rPr lang="en-US" b="1">
                <a:latin typeface="Times New Roman"/>
                <a:ea typeface="+mn-lt"/>
                <a:cs typeface="Times New Roman"/>
              </a:rPr>
              <a:t>Deploy a REST API</a:t>
            </a:r>
            <a:endParaRPr lang="en-US"/>
          </a:p>
          <a:p>
            <a:pPr>
              <a:buFont typeface="Arial" charset="2"/>
              <a:buChar char="•"/>
            </a:pPr>
            <a:r>
              <a:rPr lang="en-US">
                <a:latin typeface="Times New Roman"/>
                <a:ea typeface="+mn-lt"/>
                <a:cs typeface="Times New Roman"/>
              </a:rPr>
              <a:t>Use </a:t>
            </a:r>
            <a:r>
              <a:rPr lang="en-US" err="1">
                <a:latin typeface="Times New Roman"/>
                <a:ea typeface="+mn-lt"/>
                <a:cs typeface="Times New Roman"/>
              </a:rPr>
              <a:t>FastAPI</a:t>
            </a:r>
            <a:r>
              <a:rPr lang="en-US">
                <a:latin typeface="Times New Roman"/>
                <a:ea typeface="+mn-lt"/>
                <a:cs typeface="Times New Roman"/>
              </a:rPr>
              <a:t> to expose the ML model as a real-time endpoint that accepts sensor JSON data and returns predictions.</a:t>
            </a:r>
          </a:p>
          <a:p>
            <a:pPr marL="0" indent="0">
              <a:buNone/>
            </a:pPr>
            <a:r>
              <a:rPr lang="en-US" b="1">
                <a:latin typeface="Times New Roman"/>
                <a:ea typeface="+mn-lt"/>
                <a:cs typeface="Times New Roman"/>
              </a:rPr>
              <a:t>Integrate a Database</a:t>
            </a:r>
          </a:p>
          <a:p>
            <a:pPr>
              <a:buFont typeface="Arial" charset="2"/>
              <a:buChar char="•"/>
            </a:pPr>
            <a:r>
              <a:rPr lang="en-US">
                <a:latin typeface="Times New Roman"/>
                <a:ea typeface="+mn-lt"/>
                <a:cs typeface="Times New Roman"/>
              </a:rPr>
              <a:t>Store all prediction records (inputs + outputs) in a relational database for audit trails and future analytics.</a:t>
            </a:r>
          </a:p>
          <a:p>
            <a:pPr marL="0" indent="0">
              <a:buNone/>
            </a:pPr>
            <a:r>
              <a:rPr lang="en-US" b="1">
                <a:latin typeface="Times New Roman"/>
                <a:ea typeface="+mn-lt"/>
                <a:cs typeface="Times New Roman"/>
              </a:rPr>
              <a:t>Enable Real-Time Monitoring</a:t>
            </a:r>
          </a:p>
          <a:p>
            <a:pPr>
              <a:buFont typeface="Arial" charset="2"/>
              <a:buChar char="•"/>
            </a:pPr>
            <a:r>
              <a:rPr lang="en-US">
                <a:latin typeface="Times New Roman"/>
                <a:ea typeface="+mn-lt"/>
                <a:cs typeface="Times New Roman"/>
              </a:rPr>
              <a:t>Achieve end-to-end pipeline: sensor data → prediction → storage → JSON response in milliseconds.</a:t>
            </a:r>
          </a:p>
          <a:p>
            <a:pPr>
              <a:buFont typeface="Arial" charset="2"/>
              <a:buChar char="•"/>
            </a:pPr>
            <a:endParaRPr lang="en-US">
              <a:ea typeface="+mn-lt"/>
              <a:cs typeface="+mn-lt"/>
            </a:endParaRPr>
          </a:p>
        </p:txBody>
      </p:sp>
    </p:spTree>
    <p:extLst>
      <p:ext uri="{BB962C8B-B14F-4D97-AF65-F5344CB8AC3E}">
        <p14:creationId xmlns:p14="http://schemas.microsoft.com/office/powerpoint/2010/main" val="1261436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3111D-0337-01A4-1B00-EA8C7F26D852}"/>
              </a:ext>
            </a:extLst>
          </p:cNvPr>
          <p:cNvSpPr>
            <a:spLocks noGrp="1"/>
          </p:cNvSpPr>
          <p:nvPr>
            <p:ph type="title"/>
          </p:nvPr>
        </p:nvSpPr>
        <p:spPr>
          <a:xfrm>
            <a:off x="1644019" y="595355"/>
            <a:ext cx="8911687" cy="763306"/>
          </a:xfrm>
        </p:spPr>
        <p:txBody>
          <a:bodyPr/>
          <a:lstStyle/>
          <a:p>
            <a:r>
              <a:rPr lang="en-US">
                <a:latin typeface="Times New Roman"/>
                <a:cs typeface="Times New Roman"/>
              </a:rPr>
              <a:t>Technology's Used</a:t>
            </a:r>
          </a:p>
        </p:txBody>
      </p:sp>
      <p:sp>
        <p:nvSpPr>
          <p:cNvPr id="3" name="Content Placeholder 2">
            <a:extLst>
              <a:ext uri="{FF2B5EF4-FFF2-40B4-BE49-F238E27FC236}">
                <a16:creationId xmlns:a16="http://schemas.microsoft.com/office/drawing/2014/main" id="{52686E32-5631-6611-B22F-D4C010983E89}"/>
              </a:ext>
            </a:extLst>
          </p:cNvPr>
          <p:cNvSpPr>
            <a:spLocks noGrp="1"/>
          </p:cNvSpPr>
          <p:nvPr>
            <p:ph idx="1"/>
          </p:nvPr>
        </p:nvSpPr>
        <p:spPr>
          <a:xfrm>
            <a:off x="2459816" y="2133600"/>
            <a:ext cx="8915400" cy="4884678"/>
          </a:xfrm>
        </p:spPr>
        <p:txBody>
          <a:bodyPr vert="horz" lIns="91440" tIns="45720" rIns="91440" bIns="45720" rtlCol="0" anchor="t">
            <a:normAutofit/>
          </a:bodyPr>
          <a:lstStyle/>
          <a:p>
            <a:pPr>
              <a:buFont typeface="Arial" charset="2"/>
              <a:buChar char="•"/>
            </a:pPr>
            <a:r>
              <a:rPr lang="en-US" sz="2000">
                <a:latin typeface="Times New Roman"/>
                <a:ea typeface="+mn-lt"/>
                <a:cs typeface="Times New Roman"/>
              </a:rPr>
              <a:t>Language: Python 3.x</a:t>
            </a:r>
            <a:endParaRPr lang="en-US" sz="2000">
              <a:latin typeface="Times New Roman"/>
              <a:cs typeface="Times New Roman"/>
            </a:endParaRPr>
          </a:p>
          <a:p>
            <a:pPr>
              <a:buFont typeface="Arial" charset="2"/>
              <a:buChar char="•"/>
            </a:pPr>
            <a:r>
              <a:rPr lang="en-US" sz="2000">
                <a:latin typeface="Times New Roman"/>
                <a:ea typeface="+mn-lt"/>
                <a:cs typeface="Times New Roman"/>
              </a:rPr>
              <a:t>Data Processing: Pandas &amp; NumPy</a:t>
            </a:r>
            <a:endParaRPr lang="en-US" sz="2000">
              <a:latin typeface="Times New Roman"/>
              <a:cs typeface="Times New Roman"/>
            </a:endParaRPr>
          </a:p>
          <a:p>
            <a:pPr>
              <a:buFont typeface="Arial" charset="2"/>
              <a:buChar char="•"/>
            </a:pPr>
            <a:r>
              <a:rPr lang="en-US" sz="2000">
                <a:latin typeface="Times New Roman"/>
                <a:ea typeface="+mn-lt"/>
                <a:cs typeface="Times New Roman"/>
              </a:rPr>
              <a:t>ML Library: Scikit-learn</a:t>
            </a:r>
            <a:endParaRPr lang="en-US" sz="2000">
              <a:latin typeface="Times New Roman"/>
              <a:cs typeface="Times New Roman"/>
            </a:endParaRPr>
          </a:p>
          <a:p>
            <a:pPr>
              <a:buFont typeface="Arial" charset="2"/>
              <a:buChar char="•"/>
            </a:pPr>
            <a:r>
              <a:rPr lang="en-US" sz="2000">
                <a:latin typeface="Times New Roman"/>
                <a:cs typeface="Times New Roman"/>
              </a:rPr>
              <a:t>Frontend UI: </a:t>
            </a:r>
            <a:r>
              <a:rPr lang="en-US" sz="2000">
                <a:latin typeface="Times New Roman"/>
                <a:ea typeface="+mn-lt"/>
                <a:cs typeface="Times New Roman"/>
              </a:rPr>
              <a:t>React </a:t>
            </a:r>
          </a:p>
          <a:p>
            <a:pPr>
              <a:buFont typeface="Arial" charset="2"/>
              <a:buChar char="•"/>
            </a:pPr>
            <a:r>
              <a:rPr lang="en-US" sz="2000">
                <a:latin typeface="Times New Roman"/>
                <a:ea typeface="+mn-lt"/>
                <a:cs typeface="Times New Roman"/>
              </a:rPr>
              <a:t>Web Framework: Fast API</a:t>
            </a:r>
          </a:p>
          <a:p>
            <a:pPr>
              <a:buFont typeface="Arial" charset="2"/>
              <a:buChar char="•"/>
            </a:pPr>
            <a:r>
              <a:rPr lang="en-US" sz="2000">
                <a:latin typeface="Times New Roman"/>
                <a:ea typeface="+mn-lt"/>
                <a:cs typeface="Times New Roman"/>
              </a:rPr>
              <a:t>Database: SQLite</a:t>
            </a:r>
            <a:endParaRPr lang="en-US" sz="2000">
              <a:latin typeface="Times New Roman"/>
              <a:cs typeface="Times New Roman"/>
            </a:endParaRPr>
          </a:p>
          <a:p>
            <a:pPr>
              <a:buFont typeface="Arial" charset="2"/>
              <a:buChar char="•"/>
            </a:pPr>
            <a:endParaRPr lang="en-US"/>
          </a:p>
          <a:p>
            <a:pPr>
              <a:buFont typeface="Arial" charset="2"/>
              <a:buChar char="•"/>
            </a:pPr>
            <a:endParaRPr lang="en-US"/>
          </a:p>
          <a:p>
            <a:pPr>
              <a:buFont typeface="Arial" charset="2"/>
              <a:buChar char="•"/>
            </a:pPr>
            <a:endParaRPr lang="en-US"/>
          </a:p>
        </p:txBody>
      </p:sp>
    </p:spTree>
    <p:extLst>
      <p:ext uri="{BB962C8B-B14F-4D97-AF65-F5344CB8AC3E}">
        <p14:creationId xmlns:p14="http://schemas.microsoft.com/office/powerpoint/2010/main" val="386636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31D02-30BB-1FFC-64EE-37CB2F8FC8C4}"/>
              </a:ext>
            </a:extLst>
          </p:cNvPr>
          <p:cNvSpPr>
            <a:spLocks noGrp="1"/>
          </p:cNvSpPr>
          <p:nvPr>
            <p:ph type="title"/>
          </p:nvPr>
        </p:nvSpPr>
        <p:spPr>
          <a:xfrm>
            <a:off x="1644019" y="624110"/>
            <a:ext cx="8911687" cy="777683"/>
          </a:xfrm>
        </p:spPr>
        <p:txBody>
          <a:bodyPr/>
          <a:lstStyle/>
          <a:p>
            <a:r>
              <a:rPr lang="en-US">
                <a:latin typeface="Times New Roman"/>
                <a:cs typeface="Times New Roman"/>
              </a:rPr>
              <a:t>Work Flow</a:t>
            </a:r>
          </a:p>
        </p:txBody>
      </p:sp>
      <p:pic>
        <p:nvPicPr>
          <p:cNvPr id="4" name="Content Placeholder 3" descr="A screenshot of a screen&#10;&#10;AI-generated content may be incorrect.">
            <a:extLst>
              <a:ext uri="{FF2B5EF4-FFF2-40B4-BE49-F238E27FC236}">
                <a16:creationId xmlns:a16="http://schemas.microsoft.com/office/drawing/2014/main" id="{B6874AE9-AB24-E653-8C4A-C8C7F28C69CE}"/>
              </a:ext>
            </a:extLst>
          </p:cNvPr>
          <p:cNvPicPr>
            <a:picLocks noGrp="1" noChangeAspect="1"/>
          </p:cNvPicPr>
          <p:nvPr>
            <p:ph idx="1"/>
          </p:nvPr>
        </p:nvPicPr>
        <p:blipFill>
          <a:blip r:embed="rId2"/>
          <a:stretch>
            <a:fillRect/>
          </a:stretch>
        </p:blipFill>
        <p:spPr>
          <a:xfrm>
            <a:off x="4052294" y="1414733"/>
            <a:ext cx="3602595" cy="52872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12" name="Straight Arrow Connector 11">
            <a:extLst>
              <a:ext uri="{FF2B5EF4-FFF2-40B4-BE49-F238E27FC236}">
                <a16:creationId xmlns:a16="http://schemas.microsoft.com/office/drawing/2014/main" id="{7387AC04-31CE-0A97-3631-82186FE2AF58}"/>
              </a:ext>
            </a:extLst>
          </p:cNvPr>
          <p:cNvCxnSpPr/>
          <p:nvPr/>
        </p:nvCxnSpPr>
        <p:spPr>
          <a:xfrm>
            <a:off x="5722470" y="1867646"/>
            <a:ext cx="14941" cy="194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05537D9-83B3-0825-F23B-1980A283591D}"/>
              </a:ext>
            </a:extLst>
          </p:cNvPr>
          <p:cNvCxnSpPr/>
          <p:nvPr/>
        </p:nvCxnSpPr>
        <p:spPr>
          <a:xfrm>
            <a:off x="5722470" y="2465294"/>
            <a:ext cx="14941" cy="209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CA92FEE-8E2C-B689-3D52-BEC5A42EFF78}"/>
              </a:ext>
            </a:extLst>
          </p:cNvPr>
          <p:cNvCxnSpPr/>
          <p:nvPr/>
        </p:nvCxnSpPr>
        <p:spPr>
          <a:xfrm>
            <a:off x="5752352" y="3077881"/>
            <a:ext cx="14941" cy="268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28795CA-E948-A778-AC24-32FAEC7B44A7}"/>
              </a:ext>
            </a:extLst>
          </p:cNvPr>
          <p:cNvCxnSpPr/>
          <p:nvPr/>
        </p:nvCxnSpPr>
        <p:spPr>
          <a:xfrm>
            <a:off x="5767293" y="3705411"/>
            <a:ext cx="14941" cy="149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A85F3D0-9793-003C-AEB5-971ADAC57F5D}"/>
              </a:ext>
            </a:extLst>
          </p:cNvPr>
          <p:cNvCxnSpPr/>
          <p:nvPr/>
        </p:nvCxnSpPr>
        <p:spPr>
          <a:xfrm>
            <a:off x="5767293" y="4273176"/>
            <a:ext cx="14941" cy="209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8EDC681-AE61-F29F-2AFF-F03716BC71C1}"/>
              </a:ext>
            </a:extLst>
          </p:cNvPr>
          <p:cNvCxnSpPr/>
          <p:nvPr/>
        </p:nvCxnSpPr>
        <p:spPr>
          <a:xfrm>
            <a:off x="5782234" y="4855882"/>
            <a:ext cx="14941" cy="149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CD2285F-6987-61A6-C05C-5FD0AAF73178}"/>
              </a:ext>
            </a:extLst>
          </p:cNvPr>
          <p:cNvCxnSpPr/>
          <p:nvPr/>
        </p:nvCxnSpPr>
        <p:spPr>
          <a:xfrm>
            <a:off x="5782234" y="5378823"/>
            <a:ext cx="14941" cy="283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EE4E95B-49D9-8C6B-917E-5C23512DA444}"/>
              </a:ext>
            </a:extLst>
          </p:cNvPr>
          <p:cNvCxnSpPr/>
          <p:nvPr/>
        </p:nvCxnSpPr>
        <p:spPr>
          <a:xfrm>
            <a:off x="5797176" y="6051176"/>
            <a:ext cx="14941" cy="313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282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982DB-0684-96BB-3DD3-613548D4D112}"/>
              </a:ext>
            </a:extLst>
          </p:cNvPr>
          <p:cNvSpPr>
            <a:spLocks noGrp="1"/>
          </p:cNvSpPr>
          <p:nvPr>
            <p:ph type="title"/>
          </p:nvPr>
        </p:nvSpPr>
        <p:spPr>
          <a:xfrm>
            <a:off x="1604647" y="638487"/>
            <a:ext cx="9382380" cy="950211"/>
          </a:xfrm>
        </p:spPr>
        <p:txBody>
          <a:bodyPr>
            <a:normAutofit/>
          </a:bodyPr>
          <a:lstStyle/>
          <a:p>
            <a:r>
              <a:rPr lang="en-US">
                <a:latin typeface="Times New Roman"/>
                <a:ea typeface="+mj-lt"/>
                <a:cs typeface="Times New Roman"/>
              </a:rPr>
              <a:t>Dataset Generation for Collision Risk Detection</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35752F1C-498D-4829-9584-8CCE25E89618}"/>
              </a:ext>
            </a:extLst>
          </p:cNvPr>
          <p:cNvSpPr>
            <a:spLocks noGrp="1"/>
          </p:cNvSpPr>
          <p:nvPr>
            <p:ph idx="1"/>
          </p:nvPr>
        </p:nvSpPr>
        <p:spPr>
          <a:xfrm>
            <a:off x="2035968" y="1429110"/>
            <a:ext cx="9382380" cy="4999697"/>
          </a:xfrm>
        </p:spPr>
        <p:txBody>
          <a:bodyPr vert="horz" lIns="91440" tIns="45720" rIns="91440" bIns="45720" rtlCol="0" anchor="t">
            <a:normAutofit lnSpcReduction="10000"/>
          </a:bodyPr>
          <a:lstStyle/>
          <a:p>
            <a:pPr>
              <a:buFont typeface="Arial" charset="2"/>
              <a:buChar char="•"/>
            </a:pPr>
            <a:r>
              <a:rPr lang="en-US">
                <a:latin typeface="Times New Roman"/>
                <a:ea typeface="+mn-lt"/>
                <a:cs typeface="Times New Roman"/>
              </a:rPr>
              <a:t>The objective of this dataset generation process is to create a dataset that simulates different vehicle driving scenarios for training a machine learning model to predict collision risk levels.</a:t>
            </a:r>
            <a:endParaRPr lang="en-US"/>
          </a:p>
          <a:p>
            <a:pPr marL="0" indent="0">
              <a:buNone/>
            </a:pPr>
            <a:r>
              <a:rPr lang="en-US" b="1">
                <a:latin typeface="Times New Roman"/>
                <a:ea typeface="+mn-lt"/>
                <a:cs typeface="Times New Roman"/>
              </a:rPr>
              <a:t>Dataset Features:</a:t>
            </a:r>
            <a:endParaRPr lang="en-US">
              <a:latin typeface="Times New Roman"/>
              <a:cs typeface="Times New Roman"/>
            </a:endParaRPr>
          </a:p>
          <a:p>
            <a:pPr>
              <a:buFont typeface="Arial" charset="2"/>
              <a:buChar char="•"/>
            </a:pPr>
            <a:r>
              <a:rPr lang="en-US">
                <a:latin typeface="Times New Roman"/>
                <a:ea typeface="+mn-lt"/>
                <a:cs typeface="Times New Roman"/>
              </a:rPr>
              <a:t>The generated dataset includes the following parameters that represent vehicle dynamics and environmental conditions:</a:t>
            </a:r>
            <a:endParaRPr lang="en-US">
              <a:latin typeface="Times New Roman"/>
              <a:cs typeface="Times New Roman"/>
            </a:endParaRPr>
          </a:p>
          <a:p>
            <a:pPr>
              <a:buFont typeface="Arial" charset="2"/>
              <a:buChar char="•"/>
            </a:pPr>
            <a:r>
              <a:rPr lang="en-US" b="1">
                <a:latin typeface="Times New Roman"/>
                <a:ea typeface="+mn-lt"/>
                <a:cs typeface="Times New Roman"/>
              </a:rPr>
              <a:t>Distance</a:t>
            </a:r>
            <a:r>
              <a:rPr lang="en-US">
                <a:latin typeface="Times New Roman"/>
                <a:ea typeface="+mn-lt"/>
                <a:cs typeface="Times New Roman"/>
              </a:rPr>
              <a:t> – Distance between the vehicle and the object ahead</a:t>
            </a:r>
            <a:endParaRPr lang="en-US">
              <a:latin typeface="Times New Roman"/>
              <a:cs typeface="Times New Roman"/>
            </a:endParaRPr>
          </a:p>
          <a:p>
            <a:pPr>
              <a:buFont typeface="Arial" charset="2"/>
              <a:buChar char="•"/>
            </a:pPr>
            <a:r>
              <a:rPr lang="en-US" b="1">
                <a:latin typeface="Times New Roman"/>
                <a:ea typeface="+mn-lt"/>
                <a:cs typeface="Times New Roman"/>
              </a:rPr>
              <a:t>Time-To-Collision (TTC)</a:t>
            </a:r>
            <a:r>
              <a:rPr lang="en-US">
                <a:latin typeface="Times New Roman"/>
                <a:ea typeface="+mn-lt"/>
                <a:cs typeface="Times New Roman"/>
              </a:rPr>
              <a:t> – Estimated time before a collision occurs if current speed is maintained</a:t>
            </a:r>
            <a:endParaRPr lang="en-US">
              <a:latin typeface="Times New Roman"/>
              <a:cs typeface="Times New Roman"/>
            </a:endParaRPr>
          </a:p>
          <a:p>
            <a:pPr>
              <a:buFont typeface="Arial" charset="2"/>
              <a:buChar char="•"/>
            </a:pPr>
            <a:r>
              <a:rPr lang="en-US" b="1">
                <a:latin typeface="Times New Roman"/>
                <a:ea typeface="+mn-lt"/>
                <a:cs typeface="Times New Roman"/>
              </a:rPr>
              <a:t>Axis</a:t>
            </a:r>
            <a:r>
              <a:rPr lang="en-US">
                <a:latin typeface="Times New Roman"/>
                <a:ea typeface="+mn-lt"/>
                <a:cs typeface="Times New Roman"/>
              </a:rPr>
              <a:t> – Lateral position of the detected object relative to the vehicle lane</a:t>
            </a:r>
            <a:endParaRPr lang="en-US">
              <a:latin typeface="Times New Roman"/>
              <a:cs typeface="Times New Roman"/>
            </a:endParaRPr>
          </a:p>
          <a:p>
            <a:pPr>
              <a:buFont typeface="Arial" charset="2"/>
              <a:buChar char="•"/>
            </a:pPr>
            <a:r>
              <a:rPr lang="en-US" b="1">
                <a:latin typeface="Times New Roman"/>
                <a:ea typeface="+mn-lt"/>
                <a:cs typeface="Times New Roman"/>
              </a:rPr>
              <a:t>Speed</a:t>
            </a:r>
            <a:r>
              <a:rPr lang="en-US">
                <a:latin typeface="Times New Roman"/>
                <a:ea typeface="+mn-lt"/>
                <a:cs typeface="Times New Roman"/>
              </a:rPr>
              <a:t> – Speed of the vehicle</a:t>
            </a:r>
          </a:p>
          <a:p>
            <a:pPr>
              <a:buFont typeface="Arial" charset="2"/>
              <a:buChar char="•"/>
            </a:pPr>
            <a:r>
              <a:rPr lang="en-US" b="1">
                <a:latin typeface="Times New Roman"/>
                <a:ea typeface="+mn-lt"/>
                <a:cs typeface="Times New Roman"/>
              </a:rPr>
              <a:t>Steering Angle</a:t>
            </a:r>
            <a:r>
              <a:rPr lang="en-US">
                <a:latin typeface="Times New Roman"/>
                <a:ea typeface="+mn-lt"/>
                <a:cs typeface="Times New Roman"/>
              </a:rPr>
              <a:t> – Current steering angle of the vehicle</a:t>
            </a:r>
            <a:endParaRPr lang="en-US">
              <a:latin typeface="Times New Roman"/>
              <a:cs typeface="Times New Roman"/>
            </a:endParaRPr>
          </a:p>
          <a:p>
            <a:pPr>
              <a:buFont typeface="Arial" charset="2"/>
              <a:buChar char="•"/>
            </a:pPr>
            <a:r>
              <a:rPr lang="en-US" b="1">
                <a:latin typeface="Times New Roman"/>
                <a:ea typeface="+mn-lt"/>
                <a:cs typeface="Times New Roman"/>
              </a:rPr>
              <a:t>Relative Velocity</a:t>
            </a:r>
            <a:r>
              <a:rPr lang="en-US">
                <a:latin typeface="Times New Roman"/>
                <a:ea typeface="+mn-lt"/>
                <a:cs typeface="Times New Roman"/>
              </a:rPr>
              <a:t> – Speed difference between the ego vehicle and the object ahead</a:t>
            </a:r>
            <a:endParaRPr lang="en-US">
              <a:latin typeface="Times New Roman"/>
              <a:cs typeface="Times New Roman"/>
            </a:endParaRPr>
          </a:p>
          <a:p>
            <a:pPr>
              <a:buFont typeface="Arial" charset="2"/>
              <a:buChar char="•"/>
            </a:pPr>
            <a:r>
              <a:rPr lang="en-US" b="1">
                <a:latin typeface="Times New Roman"/>
                <a:ea typeface="+mn-lt"/>
                <a:cs typeface="Times New Roman"/>
              </a:rPr>
              <a:t>Status</a:t>
            </a:r>
            <a:r>
              <a:rPr lang="en-US">
                <a:latin typeface="Times New Roman"/>
                <a:ea typeface="+mn-lt"/>
                <a:cs typeface="Times New Roman"/>
              </a:rPr>
              <a:t> – Collision risk category (High Risk, Risk, Safe)</a:t>
            </a:r>
            <a:endParaRPr lang="en-US">
              <a:latin typeface="Times New Roman"/>
              <a:cs typeface="Times New Roman"/>
            </a:endParaRPr>
          </a:p>
          <a:p>
            <a:pPr>
              <a:buFont typeface="Arial" charset="2"/>
              <a:buChar char="•"/>
            </a:pPr>
            <a:r>
              <a:rPr lang="en-US">
                <a:latin typeface="Times New Roman"/>
                <a:ea typeface="+mn-lt"/>
                <a:cs typeface="Times New Roman"/>
              </a:rPr>
              <a:t>The dataset is stored in a </a:t>
            </a:r>
            <a:r>
              <a:rPr lang="en-US" b="1">
                <a:latin typeface="Times New Roman"/>
                <a:ea typeface="+mn-lt"/>
                <a:cs typeface="Times New Roman"/>
              </a:rPr>
              <a:t>CSV file</a:t>
            </a:r>
            <a:r>
              <a:rPr lang="en-US">
                <a:latin typeface="Times New Roman"/>
                <a:ea typeface="+mn-lt"/>
                <a:cs typeface="Times New Roman"/>
              </a:rPr>
              <a:t> and used for training machine learning models.</a:t>
            </a:r>
            <a:endParaRPr lang="en-US">
              <a:latin typeface="Times New Roman"/>
              <a:cs typeface="Times New Roman"/>
            </a:endParaRPr>
          </a:p>
          <a:p>
            <a:pPr>
              <a:buFont typeface="Arial" charset="2"/>
              <a:buChar char="•"/>
            </a:pPr>
            <a:endParaRPr lang="en-US"/>
          </a:p>
        </p:txBody>
      </p:sp>
    </p:spTree>
    <p:extLst>
      <p:ext uri="{BB962C8B-B14F-4D97-AF65-F5344CB8AC3E}">
        <p14:creationId xmlns:p14="http://schemas.microsoft.com/office/powerpoint/2010/main" val="1334355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1B45F-970D-2228-1FC6-2717036CAFB5}"/>
              </a:ext>
            </a:extLst>
          </p:cNvPr>
          <p:cNvSpPr>
            <a:spLocks noGrp="1"/>
          </p:cNvSpPr>
          <p:nvPr>
            <p:ph type="title"/>
          </p:nvPr>
        </p:nvSpPr>
        <p:spPr>
          <a:xfrm>
            <a:off x="1644019" y="609733"/>
            <a:ext cx="8911687" cy="777683"/>
          </a:xfrm>
        </p:spPr>
        <p:txBody>
          <a:bodyPr>
            <a:normAutofit/>
          </a:bodyPr>
          <a:lstStyle/>
          <a:p>
            <a:r>
              <a:rPr lang="en-US">
                <a:latin typeface="Times New Roman"/>
                <a:ea typeface="+mj-lt"/>
                <a:cs typeface="Times New Roman"/>
              </a:rPr>
              <a:t>Data Generation Process</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55804088-E694-2AC1-6FFF-B06CF6A2AF97}"/>
              </a:ext>
            </a:extLst>
          </p:cNvPr>
          <p:cNvSpPr>
            <a:spLocks noGrp="1"/>
          </p:cNvSpPr>
          <p:nvPr>
            <p:ph idx="1"/>
          </p:nvPr>
        </p:nvSpPr>
        <p:spPr>
          <a:xfrm>
            <a:off x="1956608" y="1400355"/>
            <a:ext cx="8915400" cy="5186602"/>
          </a:xfrm>
        </p:spPr>
        <p:txBody>
          <a:bodyPr vert="horz" lIns="91440" tIns="45720" rIns="91440" bIns="45720" rtlCol="0" anchor="t">
            <a:noAutofit/>
          </a:bodyPr>
          <a:lstStyle/>
          <a:p>
            <a:pPr>
              <a:buFont typeface="Arial" charset="2"/>
              <a:buChar char="•"/>
            </a:pPr>
            <a:r>
              <a:rPr lang="en-US">
                <a:latin typeface="Times New Roman"/>
                <a:ea typeface="+mn-lt"/>
                <a:cs typeface="Times New Roman"/>
              </a:rPr>
              <a:t>The dataset is generated using </a:t>
            </a:r>
            <a:r>
              <a:rPr lang="en-US" b="1">
                <a:latin typeface="Times New Roman"/>
                <a:ea typeface="+mn-lt"/>
                <a:cs typeface="Times New Roman"/>
              </a:rPr>
              <a:t>Python's </a:t>
            </a:r>
            <a:r>
              <a:rPr lang="en-US" b="1">
                <a:latin typeface="Times New Roman"/>
                <a:cs typeface="Times New Roman"/>
              </a:rPr>
              <a:t>random</a:t>
            </a:r>
            <a:r>
              <a:rPr lang="en-US" b="1">
                <a:latin typeface="Times New Roman"/>
                <a:ea typeface="+mn-lt"/>
                <a:cs typeface="Times New Roman"/>
              </a:rPr>
              <a:t> and </a:t>
            </a:r>
            <a:r>
              <a:rPr lang="en-US" b="1">
                <a:latin typeface="Times New Roman"/>
                <a:cs typeface="Times New Roman"/>
              </a:rPr>
              <a:t>csv</a:t>
            </a:r>
            <a:r>
              <a:rPr lang="en-US" b="1">
                <a:latin typeface="Times New Roman"/>
                <a:ea typeface="+mn-lt"/>
                <a:cs typeface="Times New Roman"/>
              </a:rPr>
              <a:t> libraries</a:t>
            </a:r>
            <a:r>
              <a:rPr lang="en-US">
                <a:latin typeface="Times New Roman"/>
                <a:ea typeface="+mn-lt"/>
                <a:cs typeface="Times New Roman"/>
              </a:rPr>
              <a:t> to simulate realistic vehicle driving conditions.</a:t>
            </a:r>
            <a:endParaRPr lang="en-US">
              <a:latin typeface="Times New Roman"/>
              <a:cs typeface="Times New Roman"/>
            </a:endParaRPr>
          </a:p>
          <a:p>
            <a:pPr marL="0" indent="0">
              <a:buNone/>
            </a:pPr>
            <a:r>
              <a:rPr lang="en-US" b="1">
                <a:latin typeface="Times New Roman"/>
                <a:ea typeface="+mn-lt"/>
                <a:cs typeface="Times New Roman"/>
              </a:rPr>
              <a:t>Process</a:t>
            </a:r>
            <a:endParaRPr lang="en-US">
              <a:latin typeface="Times New Roman"/>
              <a:cs typeface="Times New Roman"/>
            </a:endParaRPr>
          </a:p>
          <a:p>
            <a:pPr>
              <a:buFont typeface="Arial" charset="2"/>
              <a:buChar char="•"/>
            </a:pPr>
            <a:r>
              <a:rPr lang="en-US">
                <a:latin typeface="Times New Roman"/>
                <a:ea typeface="+mn-lt"/>
                <a:cs typeface="Times New Roman"/>
              </a:rPr>
              <a:t>Define realistic ranges for vehicle parameters.</a:t>
            </a:r>
            <a:endParaRPr lang="en-US">
              <a:latin typeface="Times New Roman"/>
              <a:cs typeface="Times New Roman"/>
            </a:endParaRPr>
          </a:p>
          <a:p>
            <a:pPr>
              <a:buFont typeface="Arial" charset="2"/>
              <a:buChar char="•"/>
            </a:pPr>
            <a:r>
              <a:rPr lang="en-US">
                <a:latin typeface="Times New Roman"/>
                <a:ea typeface="+mn-lt"/>
                <a:cs typeface="Times New Roman"/>
              </a:rPr>
              <a:t>Generate random values within these ranges.</a:t>
            </a:r>
            <a:endParaRPr lang="en-US">
              <a:latin typeface="Times New Roman"/>
              <a:cs typeface="Times New Roman"/>
            </a:endParaRPr>
          </a:p>
          <a:p>
            <a:pPr>
              <a:buFont typeface="Arial" charset="2"/>
              <a:buChar char="•"/>
            </a:pPr>
            <a:r>
              <a:rPr lang="en-US">
                <a:latin typeface="Times New Roman"/>
                <a:ea typeface="+mn-lt"/>
                <a:cs typeface="Times New Roman"/>
              </a:rPr>
              <a:t>Apply rule-based logic to determine the collision risk level.</a:t>
            </a:r>
            <a:endParaRPr lang="en-US">
              <a:latin typeface="Times New Roman"/>
              <a:cs typeface="Times New Roman"/>
            </a:endParaRPr>
          </a:p>
          <a:p>
            <a:pPr marL="0" indent="0">
              <a:buNone/>
            </a:pPr>
            <a:r>
              <a:rPr lang="en-US" b="1">
                <a:latin typeface="Times New Roman"/>
                <a:ea typeface="+mn-lt"/>
                <a:cs typeface="Times New Roman"/>
              </a:rPr>
              <a:t>Parameter Ranges Used</a:t>
            </a:r>
            <a:endParaRPr lang="en-US">
              <a:latin typeface="Times New Roman"/>
              <a:cs typeface="Times New Roman"/>
            </a:endParaRPr>
          </a:p>
          <a:p>
            <a:pPr>
              <a:buFont typeface="Arial" charset="2"/>
              <a:buChar char="•"/>
            </a:pPr>
            <a:r>
              <a:rPr lang="en-US" b="1">
                <a:latin typeface="Times New Roman"/>
                <a:ea typeface="+mn-lt"/>
                <a:cs typeface="Times New Roman"/>
              </a:rPr>
              <a:t>Distance:</a:t>
            </a:r>
            <a:r>
              <a:rPr lang="en-US">
                <a:latin typeface="Times New Roman"/>
                <a:ea typeface="+mn-lt"/>
                <a:cs typeface="Times New Roman"/>
              </a:rPr>
              <a:t>  3– 150 meters</a:t>
            </a:r>
            <a:endParaRPr lang="en-US">
              <a:latin typeface="Times New Roman"/>
              <a:cs typeface="Times New Roman"/>
            </a:endParaRPr>
          </a:p>
          <a:p>
            <a:pPr>
              <a:buFont typeface="Arial" charset="2"/>
              <a:buChar char="•"/>
            </a:pPr>
            <a:r>
              <a:rPr lang="en-US" b="1">
                <a:latin typeface="Times New Roman"/>
                <a:ea typeface="+mn-lt"/>
                <a:cs typeface="Times New Roman"/>
              </a:rPr>
              <a:t>TTC:</a:t>
            </a:r>
            <a:r>
              <a:rPr lang="en-US">
                <a:latin typeface="Times New Roman"/>
                <a:ea typeface="+mn-lt"/>
                <a:cs typeface="Times New Roman"/>
              </a:rPr>
              <a:t> 0.3 – 13 seconds</a:t>
            </a:r>
            <a:endParaRPr lang="en-US">
              <a:latin typeface="Times New Roman"/>
              <a:cs typeface="Times New Roman"/>
            </a:endParaRPr>
          </a:p>
          <a:p>
            <a:pPr>
              <a:buFont typeface="Arial" charset="2"/>
              <a:buChar char="•"/>
            </a:pPr>
            <a:r>
              <a:rPr lang="en-US" b="1">
                <a:latin typeface="Times New Roman"/>
                <a:ea typeface="+mn-lt"/>
                <a:cs typeface="Times New Roman"/>
              </a:rPr>
              <a:t>Axis Offset:</a:t>
            </a:r>
            <a:r>
              <a:rPr lang="en-US">
                <a:latin typeface="Times New Roman"/>
                <a:ea typeface="+mn-lt"/>
                <a:cs typeface="Times New Roman"/>
              </a:rPr>
              <a:t> -1.5 – 1.5 meters</a:t>
            </a:r>
            <a:endParaRPr lang="en-US">
              <a:latin typeface="Times New Roman"/>
              <a:cs typeface="Times New Roman"/>
            </a:endParaRPr>
          </a:p>
          <a:p>
            <a:pPr>
              <a:buFont typeface="Arial" charset="2"/>
              <a:buChar char="•"/>
            </a:pPr>
            <a:r>
              <a:rPr lang="en-US" b="1">
                <a:latin typeface="Times New Roman"/>
                <a:ea typeface="+mn-lt"/>
                <a:cs typeface="Times New Roman"/>
              </a:rPr>
              <a:t>Vehicle Speed:</a:t>
            </a:r>
            <a:r>
              <a:rPr lang="en-US">
                <a:latin typeface="Times New Roman"/>
                <a:ea typeface="+mn-lt"/>
                <a:cs typeface="Times New Roman"/>
              </a:rPr>
              <a:t> 40– 140 km/h</a:t>
            </a:r>
            <a:endParaRPr lang="en-US">
              <a:latin typeface="Times New Roman"/>
              <a:cs typeface="Times New Roman"/>
            </a:endParaRPr>
          </a:p>
          <a:p>
            <a:pPr>
              <a:buFont typeface="Arial" charset="2"/>
              <a:buChar char="•"/>
            </a:pPr>
            <a:r>
              <a:rPr lang="en-US" b="1">
                <a:latin typeface="Times New Roman"/>
                <a:ea typeface="+mn-lt"/>
                <a:cs typeface="Times New Roman"/>
              </a:rPr>
              <a:t>Steering Angle:</a:t>
            </a:r>
            <a:r>
              <a:rPr lang="en-US">
                <a:latin typeface="Times New Roman"/>
                <a:ea typeface="+mn-lt"/>
                <a:cs typeface="Times New Roman"/>
              </a:rPr>
              <a:t> -15° – 15°</a:t>
            </a:r>
            <a:endParaRPr lang="en-US">
              <a:latin typeface="Times New Roman"/>
              <a:cs typeface="Times New Roman"/>
            </a:endParaRPr>
          </a:p>
          <a:p>
            <a:pPr>
              <a:buFont typeface="Arial" charset="2"/>
              <a:buChar char="•"/>
            </a:pPr>
            <a:r>
              <a:rPr lang="en-US" b="1">
                <a:latin typeface="Times New Roman"/>
                <a:ea typeface="+mn-lt"/>
                <a:cs typeface="Times New Roman"/>
              </a:rPr>
              <a:t>Relative Velocity:</a:t>
            </a:r>
            <a:r>
              <a:rPr lang="en-US">
                <a:latin typeface="Times New Roman"/>
                <a:ea typeface="+mn-lt"/>
                <a:cs typeface="Times New Roman"/>
              </a:rPr>
              <a:t> 05– 25 m/s</a:t>
            </a:r>
            <a:endParaRPr lang="en-US">
              <a:latin typeface="Times New Roman"/>
              <a:cs typeface="Times New Roman"/>
            </a:endParaRPr>
          </a:p>
          <a:p>
            <a:pPr>
              <a:buFont typeface="Arial" charset="2"/>
              <a:buChar char="•"/>
            </a:pPr>
            <a:endParaRPr lang="en-US">
              <a:latin typeface="Times New Roman"/>
              <a:cs typeface="Times New Roman"/>
            </a:endParaRPr>
          </a:p>
          <a:p>
            <a:pPr>
              <a:buFont typeface="Arial" charset="2"/>
              <a:buChar char="•"/>
            </a:pPr>
            <a:endParaRPr lang="en-US"/>
          </a:p>
        </p:txBody>
      </p:sp>
    </p:spTree>
    <p:extLst>
      <p:ext uri="{BB962C8B-B14F-4D97-AF65-F5344CB8AC3E}">
        <p14:creationId xmlns:p14="http://schemas.microsoft.com/office/powerpoint/2010/main" val="348102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25C9E-63D2-33F3-27A0-EF6791851EFD}"/>
              </a:ext>
            </a:extLst>
          </p:cNvPr>
          <p:cNvSpPr>
            <a:spLocks noGrp="1"/>
          </p:cNvSpPr>
          <p:nvPr>
            <p:ph type="title"/>
          </p:nvPr>
        </p:nvSpPr>
        <p:spPr>
          <a:xfrm>
            <a:off x="1644019" y="667242"/>
            <a:ext cx="8911687" cy="748928"/>
          </a:xfrm>
        </p:spPr>
        <p:txBody>
          <a:bodyPr/>
          <a:lstStyle/>
          <a:p>
            <a:r>
              <a:rPr lang="en-US">
                <a:latin typeface="Times New Roman"/>
                <a:ea typeface="+mj-lt"/>
                <a:cs typeface="Times New Roman"/>
              </a:rPr>
              <a:t>Collision Risk Classification </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18A54C54-77BD-1F76-4F60-27F672C9F03F}"/>
              </a:ext>
            </a:extLst>
          </p:cNvPr>
          <p:cNvSpPr>
            <a:spLocks noGrp="1"/>
          </p:cNvSpPr>
          <p:nvPr>
            <p:ph idx="1"/>
          </p:nvPr>
        </p:nvSpPr>
        <p:spPr>
          <a:xfrm>
            <a:off x="2014117" y="1429110"/>
            <a:ext cx="8915400" cy="5157847"/>
          </a:xfrm>
        </p:spPr>
        <p:txBody>
          <a:bodyPr vert="horz" lIns="91440" tIns="45720" rIns="91440" bIns="45720" rtlCol="0" anchor="t">
            <a:normAutofit fontScale="92500" lnSpcReduction="20000"/>
          </a:bodyPr>
          <a:lstStyle/>
          <a:p>
            <a:pPr>
              <a:buFont typeface="Arial" charset="2"/>
              <a:buChar char="•"/>
            </a:pPr>
            <a:r>
              <a:rPr lang="en-US">
                <a:latin typeface="Times New Roman"/>
                <a:ea typeface="+mn-lt"/>
                <a:cs typeface="Times New Roman"/>
              </a:rPr>
              <a:t>A </a:t>
            </a:r>
            <a:r>
              <a:rPr lang="en-US" b="1">
                <a:latin typeface="Times New Roman"/>
                <a:ea typeface="+mn-lt"/>
                <a:cs typeface="Times New Roman"/>
              </a:rPr>
              <a:t>rule-based labeling function</a:t>
            </a:r>
            <a:r>
              <a:rPr lang="en-US">
                <a:latin typeface="Times New Roman"/>
                <a:ea typeface="+mn-lt"/>
                <a:cs typeface="Times New Roman"/>
              </a:rPr>
              <a:t> is used to classify each generated scenario into a collision risk category.</a:t>
            </a:r>
            <a:endParaRPr lang="en-US">
              <a:latin typeface="Times New Roman"/>
              <a:cs typeface="Times New Roman"/>
            </a:endParaRPr>
          </a:p>
          <a:p>
            <a:pPr marL="0" indent="0">
              <a:buNone/>
            </a:pPr>
            <a:r>
              <a:rPr lang="en-US" b="1">
                <a:latin typeface="Times New Roman"/>
                <a:ea typeface="+mn-lt"/>
                <a:cs typeface="Times New Roman"/>
              </a:rPr>
              <a:t>High Risk</a:t>
            </a:r>
            <a:endParaRPr lang="en-US">
              <a:latin typeface="Times New Roman"/>
              <a:cs typeface="Times New Roman"/>
            </a:endParaRPr>
          </a:p>
          <a:p>
            <a:pPr>
              <a:buFont typeface="Arial" charset="2"/>
              <a:buChar char="•"/>
            </a:pPr>
            <a:r>
              <a:rPr lang="en-US">
                <a:latin typeface="Times New Roman"/>
                <a:ea typeface="+mn-lt"/>
                <a:cs typeface="Times New Roman"/>
              </a:rPr>
              <a:t>A scenario is labeled as </a:t>
            </a:r>
            <a:r>
              <a:rPr lang="en-US" b="1">
                <a:latin typeface="Times New Roman"/>
                <a:ea typeface="+mn-lt"/>
                <a:cs typeface="Times New Roman"/>
              </a:rPr>
              <a:t>High Risk</a:t>
            </a:r>
            <a:r>
              <a:rPr lang="en-US">
                <a:latin typeface="Times New Roman"/>
                <a:ea typeface="+mn-lt"/>
                <a:cs typeface="Times New Roman"/>
              </a:rPr>
              <a:t> when:</a:t>
            </a:r>
            <a:endParaRPr lang="en-US">
              <a:latin typeface="Times New Roman"/>
              <a:cs typeface="Times New Roman"/>
            </a:endParaRPr>
          </a:p>
          <a:p>
            <a:pPr>
              <a:buFont typeface="Arial" charset="2"/>
              <a:buChar char="•"/>
            </a:pPr>
            <a:r>
              <a:rPr lang="en-US">
                <a:latin typeface="Times New Roman"/>
                <a:ea typeface="+mn-lt"/>
                <a:cs typeface="Times New Roman"/>
              </a:rPr>
              <a:t>Time-To-Collision (TTC) ≤ 1.5 seconds</a:t>
            </a:r>
            <a:br>
              <a:rPr lang="en-US">
                <a:latin typeface="Times New Roman"/>
                <a:ea typeface="+mn-lt"/>
                <a:cs typeface="Times New Roman"/>
              </a:rPr>
            </a:br>
            <a:r>
              <a:rPr lang="en-US">
                <a:latin typeface="Times New Roman"/>
                <a:ea typeface="+mn-lt"/>
                <a:cs typeface="Times New Roman"/>
              </a:rPr>
              <a:t> OR</a:t>
            </a:r>
            <a:endParaRPr lang="en-US">
              <a:latin typeface="Times New Roman"/>
              <a:cs typeface="Times New Roman"/>
            </a:endParaRPr>
          </a:p>
          <a:p>
            <a:pPr>
              <a:buFont typeface="Arial" charset="2"/>
              <a:buChar char="•"/>
            </a:pPr>
            <a:r>
              <a:rPr lang="en-US">
                <a:latin typeface="Times New Roman"/>
                <a:ea typeface="+mn-lt"/>
                <a:cs typeface="Times New Roman"/>
              </a:rPr>
              <a:t>Distance &lt; 8 meters and relative velocity &gt; 6 (meter/sec)</a:t>
            </a:r>
            <a:endParaRPr lang="en-US">
              <a:latin typeface="Times New Roman"/>
              <a:cs typeface="Times New Roman"/>
            </a:endParaRPr>
          </a:p>
          <a:p>
            <a:pPr>
              <a:buFont typeface="Arial" charset="2"/>
              <a:buChar char="•"/>
            </a:pPr>
            <a:r>
              <a:rPr lang="en-US">
                <a:latin typeface="Times New Roman"/>
                <a:ea typeface="+mn-lt"/>
                <a:cs typeface="Times New Roman"/>
              </a:rPr>
              <a:t>This indicates an imminent collision situation requiring immediate action.</a:t>
            </a:r>
            <a:endParaRPr lang="en-US">
              <a:latin typeface="Times New Roman"/>
              <a:cs typeface="Times New Roman"/>
            </a:endParaRPr>
          </a:p>
          <a:p>
            <a:pPr marL="0" indent="0">
              <a:buNone/>
            </a:pPr>
            <a:r>
              <a:rPr lang="en-US" b="1">
                <a:latin typeface="Times New Roman"/>
                <a:ea typeface="+mn-lt"/>
                <a:cs typeface="Times New Roman"/>
              </a:rPr>
              <a:t>Risk</a:t>
            </a:r>
            <a:endParaRPr lang="en-US">
              <a:latin typeface="Times New Roman"/>
              <a:cs typeface="Times New Roman"/>
            </a:endParaRPr>
          </a:p>
          <a:p>
            <a:pPr>
              <a:buFont typeface="Arial" charset="2"/>
              <a:buChar char="•"/>
            </a:pPr>
            <a:r>
              <a:rPr lang="en-US">
                <a:latin typeface="Times New Roman"/>
                <a:ea typeface="+mn-lt"/>
                <a:cs typeface="Times New Roman"/>
              </a:rPr>
              <a:t>A scenario is labeled as </a:t>
            </a:r>
            <a:r>
              <a:rPr lang="en-US" b="1">
                <a:latin typeface="Times New Roman"/>
                <a:ea typeface="+mn-lt"/>
                <a:cs typeface="Times New Roman"/>
              </a:rPr>
              <a:t>Risk</a:t>
            </a:r>
            <a:r>
              <a:rPr lang="en-US">
                <a:latin typeface="Times New Roman"/>
                <a:ea typeface="+mn-lt"/>
                <a:cs typeface="Times New Roman"/>
              </a:rPr>
              <a:t> when:</a:t>
            </a:r>
            <a:endParaRPr lang="en-US">
              <a:latin typeface="Times New Roman"/>
              <a:cs typeface="Times New Roman"/>
            </a:endParaRPr>
          </a:p>
          <a:p>
            <a:pPr>
              <a:buFont typeface="Arial" charset="2"/>
              <a:buChar char="•"/>
            </a:pPr>
            <a:r>
              <a:rPr lang="en-US">
                <a:latin typeface="Times New Roman"/>
                <a:ea typeface="+mn-lt"/>
                <a:cs typeface="Times New Roman"/>
              </a:rPr>
              <a:t>1.5 &lt; TTC ≤ 4 seconds.</a:t>
            </a:r>
            <a:endParaRPr lang="en-US">
              <a:latin typeface="Times New Roman"/>
              <a:cs typeface="Times New Roman"/>
            </a:endParaRPr>
          </a:p>
          <a:p>
            <a:pPr>
              <a:buFont typeface="Arial" charset="2"/>
              <a:buChar char="•"/>
            </a:pPr>
            <a:r>
              <a:rPr lang="en-US">
                <a:latin typeface="Times New Roman"/>
                <a:ea typeface="+mn-lt"/>
                <a:cs typeface="Times New Roman"/>
              </a:rPr>
              <a:t>This indicates a moderate collision risk where caution is required.</a:t>
            </a:r>
            <a:endParaRPr lang="en-US">
              <a:latin typeface="Times New Roman"/>
              <a:cs typeface="Times New Roman"/>
            </a:endParaRPr>
          </a:p>
          <a:p>
            <a:pPr marL="0" indent="0">
              <a:buNone/>
            </a:pPr>
            <a:r>
              <a:rPr lang="en-US" b="1">
                <a:latin typeface="Times New Roman"/>
                <a:ea typeface="+mn-lt"/>
                <a:cs typeface="Times New Roman"/>
              </a:rPr>
              <a:t>Safe</a:t>
            </a:r>
            <a:endParaRPr lang="en-US">
              <a:latin typeface="Times New Roman"/>
              <a:cs typeface="Times New Roman"/>
            </a:endParaRPr>
          </a:p>
          <a:p>
            <a:pPr>
              <a:buFont typeface="Arial" charset="2"/>
              <a:buChar char="•"/>
            </a:pPr>
            <a:r>
              <a:rPr lang="en-US">
                <a:latin typeface="Times New Roman"/>
                <a:ea typeface="+mn-lt"/>
                <a:cs typeface="Times New Roman"/>
              </a:rPr>
              <a:t>A scenario is labeled as </a:t>
            </a:r>
            <a:r>
              <a:rPr lang="en-US" b="1">
                <a:latin typeface="Times New Roman"/>
                <a:ea typeface="+mn-lt"/>
                <a:cs typeface="Times New Roman"/>
              </a:rPr>
              <a:t>Safe</a:t>
            </a:r>
            <a:r>
              <a:rPr lang="en-US">
                <a:latin typeface="Times New Roman"/>
                <a:ea typeface="+mn-lt"/>
                <a:cs typeface="Times New Roman"/>
              </a:rPr>
              <a:t> when:</a:t>
            </a:r>
            <a:endParaRPr lang="en-US">
              <a:latin typeface="Times New Roman"/>
              <a:cs typeface="Times New Roman"/>
            </a:endParaRPr>
          </a:p>
          <a:p>
            <a:pPr>
              <a:buFont typeface="Arial" charset="2"/>
              <a:buChar char="•"/>
            </a:pPr>
            <a:r>
              <a:rPr lang="en-US">
                <a:latin typeface="Times New Roman"/>
                <a:ea typeface="+mn-lt"/>
                <a:cs typeface="Times New Roman"/>
              </a:rPr>
              <a:t>TTC &gt; 4 seconds.</a:t>
            </a:r>
            <a:endParaRPr lang="en-US">
              <a:latin typeface="Times New Roman"/>
              <a:cs typeface="Times New Roman"/>
            </a:endParaRPr>
          </a:p>
          <a:p>
            <a:pPr>
              <a:buFont typeface="Arial" charset="2"/>
              <a:buChar char="•"/>
            </a:pPr>
            <a:r>
              <a:rPr lang="en-US">
                <a:latin typeface="Times New Roman"/>
                <a:ea typeface="+mn-lt"/>
                <a:cs typeface="Times New Roman"/>
              </a:rPr>
              <a:t>This indicates safe driving conditions with low collision probability.</a:t>
            </a:r>
            <a:endParaRPr lang="en-US">
              <a:latin typeface="Times New Roman"/>
              <a:cs typeface="Times New Roman"/>
            </a:endParaRPr>
          </a:p>
          <a:p>
            <a:pPr>
              <a:buFont typeface="Arial" charset="2"/>
              <a:buChar char="•"/>
            </a:pPr>
            <a:endParaRPr lang="en-US"/>
          </a:p>
        </p:txBody>
      </p:sp>
    </p:spTree>
    <p:extLst>
      <p:ext uri="{BB962C8B-B14F-4D97-AF65-F5344CB8AC3E}">
        <p14:creationId xmlns:p14="http://schemas.microsoft.com/office/powerpoint/2010/main" val="2628994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D9CEB-37CB-9962-83F3-F39927AC7307}"/>
              </a:ext>
            </a:extLst>
          </p:cNvPr>
          <p:cNvSpPr>
            <a:spLocks noGrp="1"/>
          </p:cNvSpPr>
          <p:nvPr>
            <p:ph type="title"/>
          </p:nvPr>
        </p:nvSpPr>
        <p:spPr>
          <a:xfrm>
            <a:off x="1572133" y="667242"/>
            <a:ext cx="8983573" cy="777683"/>
          </a:xfrm>
        </p:spPr>
        <p:txBody>
          <a:bodyPr/>
          <a:lstStyle/>
          <a:p>
            <a:r>
              <a:rPr lang="en-US">
                <a:latin typeface="Times New Roman"/>
                <a:cs typeface="Times New Roman"/>
              </a:rPr>
              <a:t>Data Set</a:t>
            </a:r>
          </a:p>
        </p:txBody>
      </p:sp>
      <p:pic>
        <p:nvPicPr>
          <p:cNvPr id="4" name="Content Placeholder 3" descr="A screenshot of a table&#10;&#10;AI-generated content may be incorrect.">
            <a:extLst>
              <a:ext uri="{FF2B5EF4-FFF2-40B4-BE49-F238E27FC236}">
                <a16:creationId xmlns:a16="http://schemas.microsoft.com/office/drawing/2014/main" id="{8B4FB271-D949-D293-2407-5520C1A7E2E3}"/>
              </a:ext>
            </a:extLst>
          </p:cNvPr>
          <p:cNvPicPr>
            <a:picLocks noGrp="1" noChangeAspect="1"/>
          </p:cNvPicPr>
          <p:nvPr>
            <p:ph idx="1"/>
          </p:nvPr>
        </p:nvPicPr>
        <p:blipFill>
          <a:blip r:embed="rId2"/>
          <a:stretch>
            <a:fillRect/>
          </a:stretch>
        </p:blipFill>
        <p:spPr>
          <a:xfrm>
            <a:off x="2166158" y="2061519"/>
            <a:ext cx="8783848" cy="27284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32541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5D3C-AB1A-775F-0BE7-E7D2A6011D48}"/>
              </a:ext>
            </a:extLst>
          </p:cNvPr>
          <p:cNvSpPr>
            <a:spLocks noGrp="1"/>
          </p:cNvSpPr>
          <p:nvPr>
            <p:ph type="title"/>
          </p:nvPr>
        </p:nvSpPr>
        <p:spPr>
          <a:xfrm>
            <a:off x="1644019" y="638487"/>
            <a:ext cx="8911687" cy="734551"/>
          </a:xfrm>
        </p:spPr>
        <p:txBody>
          <a:bodyPr/>
          <a:lstStyle/>
          <a:p>
            <a:r>
              <a:rPr lang="en-US">
                <a:latin typeface="Times New Roman"/>
                <a:ea typeface="+mj-lt"/>
                <a:cs typeface="Times New Roman"/>
              </a:rPr>
              <a:t>Machine Learning Pipeline Overview</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43C2CE77-E8B8-F381-C369-E9AF9B1D0851}"/>
              </a:ext>
            </a:extLst>
          </p:cNvPr>
          <p:cNvSpPr>
            <a:spLocks noGrp="1"/>
          </p:cNvSpPr>
          <p:nvPr>
            <p:ph idx="1"/>
          </p:nvPr>
        </p:nvSpPr>
        <p:spPr>
          <a:xfrm>
            <a:off x="2042872" y="1544128"/>
            <a:ext cx="8915400" cy="5014074"/>
          </a:xfrm>
        </p:spPr>
        <p:txBody>
          <a:bodyPr vert="horz" lIns="91440" tIns="45720" rIns="91440" bIns="45720" rtlCol="0" anchor="t">
            <a:normAutofit lnSpcReduction="10000"/>
          </a:bodyPr>
          <a:lstStyle/>
          <a:p>
            <a:pPr>
              <a:buFont typeface="Arial" charset="2"/>
              <a:buChar char="•"/>
            </a:pPr>
            <a:r>
              <a:rPr lang="en-US">
                <a:latin typeface="Times New Roman"/>
                <a:ea typeface="+mn-lt"/>
                <a:cs typeface="Times New Roman"/>
              </a:rPr>
              <a:t>The objective of this stage is to train a machine learning model that can classify vehicle driving scenarios into different </a:t>
            </a:r>
            <a:r>
              <a:rPr lang="en-US" b="1">
                <a:latin typeface="Times New Roman"/>
                <a:ea typeface="+mn-lt"/>
                <a:cs typeface="Times New Roman"/>
              </a:rPr>
              <a:t>collision risk levels</a:t>
            </a:r>
            <a:r>
              <a:rPr lang="en-US">
                <a:latin typeface="Times New Roman"/>
                <a:ea typeface="+mn-lt"/>
                <a:cs typeface="Times New Roman"/>
              </a:rPr>
              <a:t>.</a:t>
            </a:r>
            <a:endParaRPr lang="en-US">
              <a:latin typeface="Times New Roman"/>
              <a:cs typeface="Times New Roman"/>
            </a:endParaRPr>
          </a:p>
          <a:p>
            <a:pPr>
              <a:buFont typeface="Arial" charset="2"/>
              <a:buChar char="•"/>
            </a:pPr>
            <a:r>
              <a:rPr lang="en-US" b="1">
                <a:latin typeface="Times New Roman"/>
                <a:ea typeface="+mn-lt"/>
                <a:cs typeface="Times New Roman"/>
              </a:rPr>
              <a:t>The workflow includes the following steps:</a:t>
            </a:r>
            <a:endParaRPr lang="en-US" b="1">
              <a:latin typeface="Times New Roman"/>
              <a:cs typeface="Times New Roman"/>
            </a:endParaRPr>
          </a:p>
          <a:p>
            <a:pPr marL="0" indent="0">
              <a:buNone/>
            </a:pPr>
            <a:r>
              <a:rPr lang="en-US">
                <a:latin typeface="Times New Roman"/>
                <a:ea typeface="+mn-lt"/>
                <a:cs typeface="Times New Roman"/>
              </a:rPr>
              <a:t>       1) Loading the dataset</a:t>
            </a:r>
            <a:endParaRPr lang="en-US">
              <a:latin typeface="Times New Roman"/>
              <a:cs typeface="Times New Roman"/>
            </a:endParaRPr>
          </a:p>
          <a:p>
            <a:pPr marL="0" indent="0">
              <a:buNone/>
            </a:pPr>
            <a:r>
              <a:rPr lang="en-US">
                <a:latin typeface="Times New Roman"/>
                <a:ea typeface="+mn-lt"/>
                <a:cs typeface="Times New Roman"/>
              </a:rPr>
              <a:t>       2) Adding realistic sensor noise</a:t>
            </a:r>
          </a:p>
          <a:p>
            <a:pPr marL="0" indent="0">
              <a:buNone/>
            </a:pPr>
            <a:r>
              <a:rPr lang="en-US">
                <a:latin typeface="Times New Roman"/>
                <a:ea typeface="+mn-lt"/>
                <a:cs typeface="Times New Roman"/>
              </a:rPr>
              <a:t>       3) Creating class overlap to simulate uncertainty</a:t>
            </a:r>
            <a:endParaRPr lang="en-US">
              <a:latin typeface="Times New Roman"/>
              <a:cs typeface="Times New Roman"/>
            </a:endParaRPr>
          </a:p>
          <a:p>
            <a:pPr marL="0" indent="0">
              <a:buNone/>
            </a:pPr>
            <a:r>
              <a:rPr lang="en-US">
                <a:latin typeface="Times New Roman"/>
                <a:ea typeface="+mn-lt"/>
                <a:cs typeface="Times New Roman"/>
              </a:rPr>
              <a:t>       4) Preparing features and labels</a:t>
            </a:r>
            <a:endParaRPr lang="en-US">
              <a:latin typeface="Times New Roman"/>
              <a:cs typeface="Times New Roman"/>
            </a:endParaRPr>
          </a:p>
          <a:p>
            <a:pPr marL="0" indent="0">
              <a:buNone/>
            </a:pPr>
            <a:r>
              <a:rPr lang="en-US">
                <a:latin typeface="Times New Roman"/>
                <a:ea typeface="+mn-lt"/>
                <a:cs typeface="Times New Roman"/>
              </a:rPr>
              <a:t>       5) Training the machine learning model</a:t>
            </a:r>
            <a:endParaRPr lang="en-US">
              <a:latin typeface="Times New Roman"/>
              <a:cs typeface="Times New Roman"/>
            </a:endParaRPr>
          </a:p>
          <a:p>
            <a:pPr marL="0" indent="0">
              <a:buNone/>
            </a:pPr>
            <a:r>
              <a:rPr lang="en-US">
                <a:latin typeface="Times New Roman"/>
                <a:ea typeface="+mn-lt"/>
                <a:cs typeface="Times New Roman"/>
              </a:rPr>
              <a:t>       6) Performing cross-validation</a:t>
            </a:r>
            <a:endParaRPr lang="en-US">
              <a:latin typeface="Times New Roman"/>
              <a:cs typeface="Times New Roman"/>
            </a:endParaRPr>
          </a:p>
          <a:p>
            <a:pPr marL="0" indent="0">
              <a:buNone/>
            </a:pPr>
            <a:r>
              <a:rPr lang="en-US">
                <a:latin typeface="Times New Roman"/>
                <a:ea typeface="+mn-lt"/>
                <a:cs typeface="Times New Roman"/>
              </a:rPr>
              <a:t>       7) Evaluating the model performance</a:t>
            </a:r>
            <a:endParaRPr lang="en-US">
              <a:latin typeface="Times New Roman"/>
              <a:cs typeface="Times New Roman"/>
            </a:endParaRPr>
          </a:p>
          <a:p>
            <a:pPr marL="0" indent="0">
              <a:buNone/>
            </a:pPr>
            <a:r>
              <a:rPr lang="en-US">
                <a:latin typeface="Times New Roman"/>
                <a:ea typeface="+mn-lt"/>
                <a:cs typeface="Times New Roman"/>
              </a:rPr>
              <a:t>       8) Saving the trained model for deployment</a:t>
            </a:r>
            <a:endParaRPr lang="en-US">
              <a:latin typeface="Times New Roman"/>
              <a:cs typeface="Times New Roman"/>
            </a:endParaRPr>
          </a:p>
          <a:p>
            <a:pPr>
              <a:buFont typeface="Arial" charset="2"/>
              <a:buChar char="•"/>
            </a:pPr>
            <a:r>
              <a:rPr lang="en-US">
                <a:latin typeface="Times New Roman"/>
                <a:ea typeface="+mn-lt"/>
                <a:cs typeface="Times New Roman"/>
              </a:rPr>
              <a:t>The model used in this project is the </a:t>
            </a:r>
            <a:r>
              <a:rPr lang="en-US" b="1">
                <a:latin typeface="Times New Roman"/>
                <a:ea typeface="+mn-lt"/>
                <a:cs typeface="Times New Roman"/>
              </a:rPr>
              <a:t>Random Forest Classifier</a:t>
            </a:r>
            <a:r>
              <a:rPr lang="en-US">
                <a:latin typeface="Times New Roman"/>
                <a:ea typeface="+mn-lt"/>
                <a:cs typeface="Times New Roman"/>
              </a:rPr>
              <a:t>, an ensemble learning method that combines multiple decision trees to improve prediction accuracy and robustness.</a:t>
            </a:r>
            <a:endParaRPr lang="en-US">
              <a:latin typeface="Times New Roman"/>
              <a:cs typeface="Times New Roman"/>
            </a:endParaRPr>
          </a:p>
          <a:p>
            <a:pPr>
              <a:buFont typeface="Arial" charset="2"/>
              <a:buChar char="•"/>
            </a:pPr>
            <a:endParaRPr lang="en-US"/>
          </a:p>
        </p:txBody>
      </p:sp>
    </p:spTree>
    <p:extLst>
      <p:ext uri="{BB962C8B-B14F-4D97-AF65-F5344CB8AC3E}">
        <p14:creationId xmlns:p14="http://schemas.microsoft.com/office/powerpoint/2010/main" val="3328882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C8190-088F-502E-EDAF-F8551DF48854}"/>
              </a:ext>
            </a:extLst>
          </p:cNvPr>
          <p:cNvSpPr>
            <a:spLocks noGrp="1"/>
          </p:cNvSpPr>
          <p:nvPr>
            <p:ph type="title"/>
          </p:nvPr>
        </p:nvSpPr>
        <p:spPr>
          <a:xfrm>
            <a:off x="1759038" y="624110"/>
            <a:ext cx="8911687" cy="633909"/>
          </a:xfrm>
        </p:spPr>
        <p:txBody>
          <a:bodyPr>
            <a:normAutofit fontScale="90000"/>
          </a:bodyPr>
          <a:lstStyle/>
          <a:p>
            <a:r>
              <a:rPr lang="en-US">
                <a:latin typeface="Times New Roman"/>
                <a:ea typeface="+mj-lt"/>
                <a:cs typeface="Times New Roman"/>
              </a:rPr>
              <a:t>Data Preprocessing and Noise Simulation</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726EA0B7-C75A-1151-FA5A-88F749C906AF}"/>
              </a:ext>
            </a:extLst>
          </p:cNvPr>
          <p:cNvSpPr>
            <a:spLocks noGrp="1"/>
          </p:cNvSpPr>
          <p:nvPr>
            <p:ph idx="1"/>
          </p:nvPr>
        </p:nvSpPr>
        <p:spPr>
          <a:xfrm>
            <a:off x="2316042" y="1544128"/>
            <a:ext cx="8915400" cy="5100338"/>
          </a:xfrm>
        </p:spPr>
        <p:txBody>
          <a:bodyPr vert="horz" lIns="91440" tIns="45720" rIns="91440" bIns="45720" rtlCol="0" anchor="t">
            <a:normAutofit lnSpcReduction="10000"/>
          </a:bodyPr>
          <a:lstStyle/>
          <a:p>
            <a:pPr>
              <a:buFont typeface="Arial" charset="2"/>
              <a:buChar char="•"/>
            </a:pPr>
            <a:r>
              <a:rPr lang="en-US">
                <a:latin typeface="Times New Roman"/>
                <a:ea typeface="+mn-lt"/>
                <a:cs typeface="Times New Roman"/>
              </a:rPr>
              <a:t>After loading the dataset, preprocessing steps are applied to simulate real-world sensor behavior.</a:t>
            </a:r>
            <a:endParaRPr lang="en-US">
              <a:latin typeface="Times New Roman"/>
              <a:cs typeface="Times New Roman"/>
            </a:endParaRPr>
          </a:p>
          <a:p>
            <a:pPr marL="0" indent="0">
              <a:buNone/>
            </a:pPr>
            <a:r>
              <a:rPr lang="en-US" b="1">
                <a:latin typeface="Times New Roman"/>
                <a:ea typeface="+mn-lt"/>
                <a:cs typeface="Times New Roman"/>
              </a:rPr>
              <a:t>Sensor Noise Injection</a:t>
            </a:r>
            <a:endParaRPr lang="en-US">
              <a:latin typeface="Times New Roman"/>
              <a:cs typeface="Times New Roman"/>
            </a:endParaRPr>
          </a:p>
          <a:p>
            <a:pPr>
              <a:buFont typeface="Arial" charset="2"/>
              <a:buChar char="•"/>
            </a:pPr>
            <a:r>
              <a:rPr lang="en-US">
                <a:latin typeface="Times New Roman"/>
                <a:ea typeface="+mn-lt"/>
                <a:cs typeface="Times New Roman"/>
              </a:rPr>
              <a:t>Real vehicle sensors such as radar, LiDAR, and cameras are subject to measurement errors. To simulate this behavior, </a:t>
            </a:r>
            <a:r>
              <a:rPr lang="en-US" b="1">
                <a:latin typeface="Times New Roman"/>
                <a:ea typeface="+mn-lt"/>
                <a:cs typeface="Times New Roman"/>
              </a:rPr>
              <a:t>Gaussian noise</a:t>
            </a:r>
            <a:r>
              <a:rPr lang="en-US">
                <a:latin typeface="Times New Roman"/>
                <a:ea typeface="+mn-lt"/>
                <a:cs typeface="Times New Roman"/>
              </a:rPr>
              <a:t> is added to key parameters:</a:t>
            </a:r>
            <a:endParaRPr lang="en-US">
              <a:latin typeface="Times New Roman"/>
              <a:cs typeface="Times New Roman"/>
            </a:endParaRPr>
          </a:p>
          <a:p>
            <a:pPr>
              <a:buFont typeface="Arial" charset="2"/>
              <a:buChar char="•"/>
            </a:pPr>
            <a:r>
              <a:rPr lang="en-US" b="1">
                <a:latin typeface="Times New Roman"/>
                <a:ea typeface="+mn-lt"/>
                <a:cs typeface="Times New Roman"/>
              </a:rPr>
              <a:t>Time-To-Collision (TTC)</a:t>
            </a:r>
            <a:endParaRPr lang="en-US">
              <a:latin typeface="Times New Roman"/>
              <a:cs typeface="Times New Roman"/>
            </a:endParaRPr>
          </a:p>
          <a:p>
            <a:pPr>
              <a:buFont typeface="Arial" charset="2"/>
              <a:buChar char="•"/>
            </a:pPr>
            <a:r>
              <a:rPr lang="en-US" b="1">
                <a:latin typeface="Times New Roman"/>
                <a:ea typeface="+mn-lt"/>
                <a:cs typeface="Times New Roman"/>
              </a:rPr>
              <a:t>Distance</a:t>
            </a:r>
            <a:endParaRPr lang="en-US">
              <a:latin typeface="Times New Roman"/>
              <a:cs typeface="Times New Roman"/>
            </a:endParaRPr>
          </a:p>
          <a:p>
            <a:pPr>
              <a:buFont typeface="Arial" charset="2"/>
              <a:buChar char="•"/>
            </a:pPr>
            <a:r>
              <a:rPr lang="en-US" b="1">
                <a:latin typeface="Times New Roman"/>
                <a:ea typeface="+mn-lt"/>
                <a:cs typeface="Times New Roman"/>
              </a:rPr>
              <a:t>Relative Velocity</a:t>
            </a:r>
            <a:endParaRPr lang="en-US">
              <a:latin typeface="Times New Roman"/>
              <a:cs typeface="Times New Roman"/>
            </a:endParaRPr>
          </a:p>
          <a:p>
            <a:pPr>
              <a:buFont typeface="Arial" charset="2"/>
              <a:buChar char="•"/>
            </a:pPr>
            <a:r>
              <a:rPr lang="en-US">
                <a:latin typeface="Times New Roman"/>
                <a:ea typeface="+mn-lt"/>
                <a:cs typeface="Times New Roman"/>
              </a:rPr>
              <a:t>Example noise parameters:</a:t>
            </a:r>
            <a:endParaRPr lang="en-US">
              <a:latin typeface="Times New Roman"/>
              <a:cs typeface="Times New Roman"/>
            </a:endParaRPr>
          </a:p>
          <a:p>
            <a:pPr>
              <a:buFont typeface="Arial" charset="2"/>
              <a:buChar char="•"/>
            </a:pPr>
            <a:r>
              <a:rPr lang="en-US">
                <a:latin typeface="Times New Roman"/>
                <a:ea typeface="+mn-lt"/>
                <a:cs typeface="Times New Roman"/>
              </a:rPr>
              <a:t>TTC noise: mean = 0, standard deviation = 0.2</a:t>
            </a:r>
            <a:endParaRPr lang="en-US">
              <a:latin typeface="Times New Roman"/>
              <a:cs typeface="Times New Roman"/>
            </a:endParaRPr>
          </a:p>
          <a:p>
            <a:pPr>
              <a:buFont typeface="Arial" charset="2"/>
              <a:buChar char="•"/>
            </a:pPr>
            <a:r>
              <a:rPr lang="en-US">
                <a:latin typeface="Times New Roman"/>
                <a:ea typeface="+mn-lt"/>
                <a:cs typeface="Times New Roman"/>
              </a:rPr>
              <a:t>Distance noise: standard deviation = 0.6</a:t>
            </a:r>
            <a:endParaRPr lang="en-US">
              <a:latin typeface="Times New Roman"/>
              <a:cs typeface="Times New Roman"/>
            </a:endParaRPr>
          </a:p>
          <a:p>
            <a:pPr>
              <a:buFont typeface="Arial" charset="2"/>
              <a:buChar char="•"/>
            </a:pPr>
            <a:r>
              <a:rPr lang="en-US">
                <a:latin typeface="Times New Roman"/>
                <a:ea typeface="+mn-lt"/>
                <a:cs typeface="Times New Roman"/>
              </a:rPr>
              <a:t>Relative velocity noise: standard deviation = 0.3</a:t>
            </a:r>
            <a:endParaRPr lang="en-US">
              <a:latin typeface="Times New Roman"/>
              <a:cs typeface="Times New Roman"/>
            </a:endParaRPr>
          </a:p>
          <a:p>
            <a:pPr>
              <a:buFont typeface="Arial" charset="2"/>
              <a:buChar char="•"/>
            </a:pPr>
            <a:r>
              <a:rPr lang="en-US">
                <a:latin typeface="Times New Roman"/>
                <a:ea typeface="+mn-lt"/>
                <a:cs typeface="Times New Roman"/>
              </a:rPr>
              <a:t>Adding noise ensures that the dataset more closely represents real-world driving conditions.</a:t>
            </a:r>
            <a:endParaRPr lang="en-US">
              <a:latin typeface="Times New Roman"/>
              <a:cs typeface="Times New Roman"/>
            </a:endParaRPr>
          </a:p>
          <a:p>
            <a:pPr>
              <a:buFont typeface="Arial" charset="2"/>
              <a:buChar char="•"/>
            </a:pPr>
            <a:endParaRPr lang="en-US"/>
          </a:p>
        </p:txBody>
      </p:sp>
    </p:spTree>
    <p:extLst>
      <p:ext uri="{BB962C8B-B14F-4D97-AF65-F5344CB8AC3E}">
        <p14:creationId xmlns:p14="http://schemas.microsoft.com/office/powerpoint/2010/main" val="1355357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AF00-0F39-55F8-E473-29306C3CFDA9}"/>
              </a:ext>
            </a:extLst>
          </p:cNvPr>
          <p:cNvSpPr>
            <a:spLocks noGrp="1"/>
          </p:cNvSpPr>
          <p:nvPr>
            <p:ph type="title"/>
          </p:nvPr>
        </p:nvSpPr>
        <p:spPr>
          <a:xfrm>
            <a:off x="1644019" y="681619"/>
            <a:ext cx="8911687" cy="633909"/>
          </a:xfrm>
        </p:spPr>
        <p:txBody>
          <a:bodyPr>
            <a:normAutofit fontScale="90000"/>
          </a:bodyPr>
          <a:lstStyle/>
          <a:p>
            <a:r>
              <a:rPr lang="en-US">
                <a:latin typeface="Times New Roman"/>
                <a:ea typeface="+mj-lt"/>
                <a:cs typeface="Times New Roman"/>
              </a:rPr>
              <a:t>Class Overlap and Data Preparation</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4BA8E7EE-2CE4-E84D-9EEC-2852F4E994C4}"/>
              </a:ext>
            </a:extLst>
          </p:cNvPr>
          <p:cNvSpPr>
            <a:spLocks noGrp="1"/>
          </p:cNvSpPr>
          <p:nvPr>
            <p:ph idx="1"/>
          </p:nvPr>
        </p:nvSpPr>
        <p:spPr>
          <a:xfrm>
            <a:off x="2215401" y="1544128"/>
            <a:ext cx="8915400" cy="4927810"/>
          </a:xfrm>
        </p:spPr>
        <p:txBody>
          <a:bodyPr vert="horz" lIns="91440" tIns="45720" rIns="91440" bIns="45720" rtlCol="0" anchor="t">
            <a:normAutofit lnSpcReduction="10000"/>
          </a:bodyPr>
          <a:lstStyle/>
          <a:p>
            <a:pPr>
              <a:buFont typeface="Arial" charset="2"/>
              <a:buChar char="•"/>
            </a:pPr>
            <a:r>
              <a:rPr lang="en-US">
                <a:latin typeface="Times New Roman"/>
                <a:ea typeface="+mn-lt"/>
                <a:cs typeface="Times New Roman"/>
              </a:rPr>
              <a:t>To make the dataset more realistic, </a:t>
            </a:r>
            <a:r>
              <a:rPr lang="en-US" b="1">
                <a:latin typeface="Times New Roman"/>
                <a:ea typeface="+mn-lt"/>
                <a:cs typeface="Times New Roman"/>
              </a:rPr>
              <a:t>label uncertainty</a:t>
            </a:r>
            <a:r>
              <a:rPr lang="en-US">
                <a:latin typeface="Times New Roman"/>
                <a:ea typeface="+mn-lt"/>
                <a:cs typeface="Times New Roman"/>
              </a:rPr>
              <a:t> is introduced.</a:t>
            </a:r>
            <a:endParaRPr lang="en-US">
              <a:latin typeface="Times New Roman"/>
              <a:cs typeface="Times New Roman"/>
            </a:endParaRPr>
          </a:p>
          <a:p>
            <a:pPr marL="0" indent="0">
              <a:buNone/>
            </a:pPr>
            <a:r>
              <a:rPr lang="en-US" b="1">
                <a:latin typeface="Times New Roman"/>
                <a:ea typeface="+mn-lt"/>
                <a:cs typeface="Times New Roman"/>
              </a:rPr>
              <a:t>Class Overlap Creation</a:t>
            </a:r>
            <a:endParaRPr lang="en-US">
              <a:latin typeface="Times New Roman"/>
              <a:cs typeface="Times New Roman"/>
            </a:endParaRPr>
          </a:p>
          <a:p>
            <a:pPr>
              <a:buFont typeface="Arial" charset="2"/>
              <a:buChar char="•"/>
            </a:pPr>
            <a:r>
              <a:rPr lang="en-US">
                <a:latin typeface="Times New Roman"/>
                <a:ea typeface="+mn-lt"/>
                <a:cs typeface="Times New Roman"/>
              </a:rPr>
              <a:t>Approximately </a:t>
            </a:r>
            <a:r>
              <a:rPr lang="en-US" b="1">
                <a:latin typeface="Times New Roman"/>
                <a:ea typeface="+mn-lt"/>
                <a:cs typeface="Times New Roman"/>
              </a:rPr>
              <a:t>8% of the labels are randomly modified</a:t>
            </a:r>
            <a:r>
              <a:rPr lang="en-US">
                <a:latin typeface="Times New Roman"/>
                <a:ea typeface="+mn-lt"/>
                <a:cs typeface="Times New Roman"/>
              </a:rPr>
              <a:t>.</a:t>
            </a:r>
            <a:endParaRPr lang="en-US">
              <a:latin typeface="Times New Roman"/>
              <a:cs typeface="Times New Roman"/>
            </a:endParaRPr>
          </a:p>
          <a:p>
            <a:pPr>
              <a:buFont typeface="Arial" charset="2"/>
              <a:buChar char="•"/>
            </a:pPr>
            <a:r>
              <a:rPr lang="en-US">
                <a:latin typeface="Times New Roman"/>
                <a:ea typeface="+mn-lt"/>
                <a:cs typeface="Times New Roman"/>
              </a:rPr>
              <a:t>This prevents the model from learning perfectly separable rules.</a:t>
            </a:r>
            <a:endParaRPr lang="en-US">
              <a:latin typeface="Times New Roman"/>
              <a:cs typeface="Times New Roman"/>
            </a:endParaRPr>
          </a:p>
          <a:p>
            <a:pPr>
              <a:buFont typeface="Arial" charset="2"/>
              <a:buChar char="•"/>
            </a:pPr>
            <a:r>
              <a:rPr lang="en-US">
                <a:latin typeface="Times New Roman"/>
                <a:ea typeface="+mn-lt"/>
                <a:cs typeface="Times New Roman"/>
              </a:rPr>
              <a:t>It simulates real-world uncertainty in sensor-based collision detection.</a:t>
            </a:r>
            <a:endParaRPr lang="en-US">
              <a:latin typeface="Times New Roman"/>
              <a:cs typeface="Times New Roman"/>
            </a:endParaRPr>
          </a:p>
          <a:p>
            <a:pPr marL="0" indent="0">
              <a:buNone/>
            </a:pPr>
            <a:r>
              <a:rPr lang="en-US" b="1">
                <a:latin typeface="Times New Roman"/>
                <a:ea typeface="+mn-lt"/>
                <a:cs typeface="Times New Roman"/>
              </a:rPr>
              <a:t>Feature and Target Separation</a:t>
            </a:r>
            <a:endParaRPr lang="en-US">
              <a:latin typeface="Times New Roman"/>
              <a:cs typeface="Times New Roman"/>
            </a:endParaRPr>
          </a:p>
          <a:p>
            <a:pPr>
              <a:buFont typeface="Arial" charset="2"/>
              <a:buChar char="•"/>
            </a:pPr>
            <a:r>
              <a:rPr lang="en-US">
                <a:latin typeface="Times New Roman"/>
                <a:ea typeface="+mn-lt"/>
                <a:cs typeface="Times New Roman"/>
              </a:rPr>
              <a:t>The dataset is divided into:</a:t>
            </a:r>
            <a:endParaRPr lang="en-US">
              <a:latin typeface="Times New Roman"/>
              <a:cs typeface="Times New Roman"/>
            </a:endParaRPr>
          </a:p>
          <a:p>
            <a:pPr>
              <a:buFont typeface="Arial" charset="2"/>
              <a:buChar char="•"/>
            </a:pPr>
            <a:r>
              <a:rPr lang="en-US" b="1">
                <a:latin typeface="Times New Roman"/>
                <a:ea typeface="+mn-lt"/>
                <a:cs typeface="Times New Roman"/>
              </a:rPr>
              <a:t>Features (Input Variables):</a:t>
            </a:r>
            <a:endParaRPr lang="en-US">
              <a:latin typeface="Times New Roman"/>
              <a:cs typeface="Times New Roman"/>
            </a:endParaRPr>
          </a:p>
          <a:p>
            <a:pPr>
              <a:buFont typeface="Arial" charset="2"/>
              <a:buChar char="•"/>
            </a:pPr>
            <a:r>
              <a:rPr lang="en-US">
                <a:latin typeface="Times New Roman"/>
                <a:ea typeface="+mn-lt"/>
                <a:cs typeface="Times New Roman"/>
              </a:rPr>
              <a:t>Distance, Time-To-Collision (TTC), Axis, Speed, Steering Angle, Relative Velocity</a:t>
            </a:r>
            <a:endParaRPr lang="en-US">
              <a:latin typeface="Times New Roman"/>
              <a:cs typeface="Times New Roman"/>
            </a:endParaRPr>
          </a:p>
          <a:p>
            <a:pPr>
              <a:buFont typeface="Arial" charset="2"/>
              <a:buChar char="•"/>
            </a:pPr>
            <a:r>
              <a:rPr lang="en-US" b="1">
                <a:latin typeface="Times New Roman"/>
                <a:ea typeface="+mn-lt"/>
                <a:cs typeface="Times New Roman"/>
              </a:rPr>
              <a:t>Target Variable:</a:t>
            </a:r>
            <a:endParaRPr lang="en-US">
              <a:latin typeface="Times New Roman"/>
              <a:cs typeface="Times New Roman"/>
            </a:endParaRPr>
          </a:p>
          <a:p>
            <a:pPr>
              <a:buFont typeface="Arial" charset="2"/>
              <a:buChar char="•"/>
            </a:pPr>
            <a:r>
              <a:rPr lang="en-US">
                <a:latin typeface="Times New Roman"/>
                <a:ea typeface="+mn-lt"/>
                <a:cs typeface="Times New Roman"/>
              </a:rPr>
              <a:t>Status (High Risk, Risk, Safe)</a:t>
            </a:r>
            <a:endParaRPr lang="en-US">
              <a:latin typeface="Times New Roman"/>
              <a:cs typeface="Times New Roman"/>
            </a:endParaRPr>
          </a:p>
          <a:p>
            <a:pPr>
              <a:buFont typeface="Arial" charset="2"/>
              <a:buChar char="•"/>
            </a:pPr>
            <a:r>
              <a:rPr lang="en-US">
                <a:latin typeface="Times New Roman"/>
                <a:ea typeface="+mn-lt"/>
                <a:cs typeface="Times New Roman"/>
              </a:rPr>
              <a:t>Categorical labels are converted into </a:t>
            </a:r>
            <a:r>
              <a:rPr lang="en-US" b="1">
                <a:latin typeface="Times New Roman"/>
                <a:ea typeface="+mn-lt"/>
                <a:cs typeface="Times New Roman"/>
              </a:rPr>
              <a:t>numeric values using one-hot encoding</a:t>
            </a:r>
            <a:r>
              <a:rPr lang="en-US">
                <a:latin typeface="Times New Roman"/>
                <a:ea typeface="+mn-lt"/>
                <a:cs typeface="Times New Roman"/>
              </a:rPr>
              <a:t> to make them compatible with machine learning algorithms.</a:t>
            </a:r>
            <a:endParaRPr lang="en-US">
              <a:latin typeface="Times New Roman"/>
              <a:cs typeface="Times New Roman"/>
            </a:endParaRPr>
          </a:p>
          <a:p>
            <a:pPr>
              <a:buFont typeface="Arial" charset="2"/>
              <a:buChar char="•"/>
            </a:pPr>
            <a:endParaRPr lang="en-US"/>
          </a:p>
        </p:txBody>
      </p:sp>
    </p:spTree>
    <p:extLst>
      <p:ext uri="{BB962C8B-B14F-4D97-AF65-F5344CB8AC3E}">
        <p14:creationId xmlns:p14="http://schemas.microsoft.com/office/powerpoint/2010/main" val="2521253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AD255-2F72-F812-1D96-2DF21D5E31D3}"/>
              </a:ext>
            </a:extLst>
          </p:cNvPr>
          <p:cNvSpPr>
            <a:spLocks noGrp="1"/>
          </p:cNvSpPr>
          <p:nvPr>
            <p:ph type="title"/>
          </p:nvPr>
        </p:nvSpPr>
        <p:spPr>
          <a:xfrm>
            <a:off x="1644019" y="638487"/>
            <a:ext cx="8911687" cy="648287"/>
          </a:xfrm>
        </p:spPr>
        <p:txBody>
          <a:bodyPr/>
          <a:lstStyle/>
          <a:p>
            <a:r>
              <a:rPr lang="en-US">
                <a:latin typeface="Times New Roman"/>
                <a:ea typeface="+mj-lt"/>
                <a:cs typeface="Times New Roman"/>
              </a:rPr>
              <a:t>Model Training and Cross Validation</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46709CA4-7152-63F5-1DE5-7214529FF96B}"/>
              </a:ext>
            </a:extLst>
          </p:cNvPr>
          <p:cNvSpPr>
            <a:spLocks noGrp="1"/>
          </p:cNvSpPr>
          <p:nvPr>
            <p:ph idx="1"/>
          </p:nvPr>
        </p:nvSpPr>
        <p:spPr>
          <a:xfrm>
            <a:off x="2215401" y="1544128"/>
            <a:ext cx="8915400" cy="5157847"/>
          </a:xfrm>
        </p:spPr>
        <p:txBody>
          <a:bodyPr vert="horz" lIns="91440" tIns="45720" rIns="91440" bIns="45720" rtlCol="0" anchor="t">
            <a:normAutofit lnSpcReduction="10000"/>
          </a:bodyPr>
          <a:lstStyle/>
          <a:p>
            <a:pPr>
              <a:buFont typeface="Arial" charset="2"/>
              <a:buChar char="•"/>
            </a:pPr>
            <a:r>
              <a:rPr lang="en-US">
                <a:latin typeface="Times New Roman"/>
                <a:ea typeface="+mn-lt"/>
                <a:cs typeface="Times New Roman"/>
              </a:rPr>
              <a:t>The dataset is divided into </a:t>
            </a:r>
            <a:r>
              <a:rPr lang="en-US" b="1">
                <a:latin typeface="Times New Roman"/>
                <a:ea typeface="+mn-lt"/>
                <a:cs typeface="Times New Roman"/>
              </a:rPr>
              <a:t>training and testing sets</a:t>
            </a:r>
            <a:r>
              <a:rPr lang="en-US">
                <a:latin typeface="Times New Roman"/>
                <a:ea typeface="+mn-lt"/>
                <a:cs typeface="Times New Roman"/>
              </a:rPr>
              <a:t>:</a:t>
            </a:r>
            <a:endParaRPr lang="en-US">
              <a:latin typeface="Times New Roman"/>
              <a:cs typeface="Times New Roman"/>
            </a:endParaRPr>
          </a:p>
          <a:p>
            <a:pPr>
              <a:buFont typeface="Arial" charset="2"/>
              <a:buChar char="•"/>
            </a:pPr>
            <a:r>
              <a:rPr lang="en-US" b="1">
                <a:latin typeface="Times New Roman"/>
                <a:ea typeface="+mn-lt"/>
                <a:cs typeface="Times New Roman"/>
              </a:rPr>
              <a:t>Training Set:</a:t>
            </a:r>
            <a:r>
              <a:rPr lang="en-US">
                <a:latin typeface="Times New Roman"/>
                <a:ea typeface="+mn-lt"/>
                <a:cs typeface="Times New Roman"/>
              </a:rPr>
              <a:t> 80% of the data</a:t>
            </a:r>
            <a:endParaRPr lang="en-US">
              <a:latin typeface="Times New Roman"/>
              <a:cs typeface="Times New Roman"/>
            </a:endParaRPr>
          </a:p>
          <a:p>
            <a:pPr>
              <a:buFont typeface="Arial" charset="2"/>
              <a:buChar char="•"/>
            </a:pPr>
            <a:r>
              <a:rPr lang="en-US" b="1">
                <a:latin typeface="Times New Roman"/>
                <a:ea typeface="+mn-lt"/>
                <a:cs typeface="Times New Roman"/>
              </a:rPr>
              <a:t>Testing Set:</a:t>
            </a:r>
            <a:r>
              <a:rPr lang="en-US">
                <a:latin typeface="Times New Roman"/>
                <a:ea typeface="+mn-lt"/>
                <a:cs typeface="Times New Roman"/>
              </a:rPr>
              <a:t> 20% of the data</a:t>
            </a:r>
            <a:endParaRPr lang="en-US">
              <a:latin typeface="Times New Roman"/>
              <a:cs typeface="Times New Roman"/>
            </a:endParaRPr>
          </a:p>
          <a:p>
            <a:pPr>
              <a:buFont typeface="Arial" charset="2"/>
              <a:buChar char="•"/>
            </a:pPr>
            <a:r>
              <a:rPr lang="en-US">
                <a:latin typeface="Times New Roman"/>
                <a:ea typeface="+mn-lt"/>
                <a:cs typeface="Times New Roman"/>
              </a:rPr>
              <a:t>The model used is the </a:t>
            </a:r>
            <a:r>
              <a:rPr lang="en-US" b="1">
                <a:latin typeface="Times New Roman"/>
                <a:ea typeface="+mn-lt"/>
                <a:cs typeface="Times New Roman"/>
              </a:rPr>
              <a:t>Random Forest Classifier</a:t>
            </a:r>
            <a:r>
              <a:rPr lang="en-US">
                <a:latin typeface="Times New Roman"/>
                <a:ea typeface="+mn-lt"/>
                <a:cs typeface="Times New Roman"/>
              </a:rPr>
              <a:t>, which builds multiple decision trees and combines their outputs to improve prediction accuracy.</a:t>
            </a:r>
            <a:endParaRPr lang="en-US">
              <a:latin typeface="Times New Roman"/>
              <a:cs typeface="Times New Roman"/>
            </a:endParaRPr>
          </a:p>
          <a:p>
            <a:pPr marL="0" indent="0">
              <a:buNone/>
            </a:pPr>
            <a:r>
              <a:rPr lang="en-US" b="1">
                <a:latin typeface="Times New Roman"/>
                <a:ea typeface="+mn-lt"/>
                <a:cs typeface="Times New Roman"/>
              </a:rPr>
              <a:t>Model Hyperparameters</a:t>
            </a:r>
            <a:endParaRPr lang="en-US">
              <a:latin typeface="Times New Roman"/>
              <a:cs typeface="Times New Roman"/>
            </a:endParaRPr>
          </a:p>
          <a:p>
            <a:pPr>
              <a:buFont typeface="Arial" charset="2"/>
              <a:buChar char="•"/>
            </a:pPr>
            <a:r>
              <a:rPr lang="en-US">
                <a:latin typeface="Times New Roman"/>
                <a:ea typeface="+mn-lt"/>
                <a:cs typeface="Times New Roman"/>
              </a:rPr>
              <a:t>Number of Trees: 200</a:t>
            </a:r>
            <a:endParaRPr lang="en-US">
              <a:latin typeface="Times New Roman"/>
              <a:cs typeface="Times New Roman"/>
            </a:endParaRPr>
          </a:p>
          <a:p>
            <a:pPr>
              <a:buFont typeface="Arial" charset="2"/>
              <a:buChar char="•"/>
            </a:pPr>
            <a:r>
              <a:rPr lang="en-US">
                <a:latin typeface="Times New Roman"/>
                <a:ea typeface="+mn-lt"/>
                <a:cs typeface="Times New Roman"/>
              </a:rPr>
              <a:t>Maximum Depth: 7</a:t>
            </a:r>
            <a:endParaRPr lang="en-US">
              <a:latin typeface="Times New Roman"/>
              <a:cs typeface="Times New Roman"/>
            </a:endParaRPr>
          </a:p>
          <a:p>
            <a:pPr>
              <a:buFont typeface="Arial" charset="2"/>
              <a:buChar char="•"/>
            </a:pPr>
            <a:r>
              <a:rPr lang="en-US">
                <a:latin typeface="Times New Roman"/>
                <a:ea typeface="+mn-lt"/>
                <a:cs typeface="Times New Roman"/>
              </a:rPr>
              <a:t>Minimum Samples Split: 6</a:t>
            </a:r>
            <a:endParaRPr lang="en-US">
              <a:latin typeface="Times New Roman"/>
              <a:cs typeface="Times New Roman"/>
            </a:endParaRPr>
          </a:p>
          <a:p>
            <a:pPr>
              <a:buFont typeface="Arial" charset="2"/>
              <a:buChar char="•"/>
            </a:pPr>
            <a:r>
              <a:rPr lang="en-US">
                <a:latin typeface="Times New Roman"/>
                <a:ea typeface="+mn-lt"/>
                <a:cs typeface="Times New Roman"/>
              </a:rPr>
              <a:t>Minimum Samples per Leaf: 3</a:t>
            </a:r>
            <a:endParaRPr lang="en-US">
              <a:latin typeface="Times New Roman"/>
              <a:cs typeface="Times New Roman"/>
            </a:endParaRPr>
          </a:p>
          <a:p>
            <a:pPr marL="0" indent="0">
              <a:buNone/>
            </a:pPr>
            <a:r>
              <a:rPr lang="en-US" b="1">
                <a:latin typeface="Times New Roman"/>
                <a:ea typeface="+mn-lt"/>
                <a:cs typeface="Times New Roman"/>
              </a:rPr>
              <a:t>Cross Validation</a:t>
            </a:r>
            <a:endParaRPr lang="en-US">
              <a:latin typeface="Times New Roman"/>
              <a:cs typeface="Times New Roman"/>
            </a:endParaRPr>
          </a:p>
          <a:p>
            <a:pPr>
              <a:buFont typeface="Arial" charset="2"/>
              <a:buChar char="•"/>
            </a:pPr>
            <a:r>
              <a:rPr lang="en-US">
                <a:latin typeface="Times New Roman"/>
                <a:ea typeface="+mn-lt"/>
                <a:cs typeface="Times New Roman"/>
              </a:rPr>
              <a:t>To ensure the model generalizes well, </a:t>
            </a:r>
            <a:r>
              <a:rPr lang="en-US" b="1">
                <a:latin typeface="Times New Roman"/>
                <a:ea typeface="+mn-lt"/>
                <a:cs typeface="Times New Roman"/>
              </a:rPr>
              <a:t>10-fold cross-validation</a:t>
            </a:r>
            <a:r>
              <a:rPr lang="en-US">
                <a:latin typeface="Times New Roman"/>
                <a:ea typeface="+mn-lt"/>
                <a:cs typeface="Times New Roman"/>
              </a:rPr>
              <a:t> is applied.</a:t>
            </a:r>
            <a:endParaRPr lang="en-US">
              <a:latin typeface="Times New Roman"/>
              <a:cs typeface="Times New Roman"/>
            </a:endParaRPr>
          </a:p>
          <a:p>
            <a:pPr>
              <a:buFont typeface="Arial" charset="2"/>
              <a:buChar char="•"/>
            </a:pPr>
            <a:r>
              <a:rPr lang="en-US">
                <a:latin typeface="Times New Roman"/>
                <a:ea typeface="+mn-lt"/>
                <a:cs typeface="Times New Roman"/>
              </a:rPr>
              <a:t>The final performance is calculated as the </a:t>
            </a:r>
            <a:r>
              <a:rPr lang="en-US" b="1">
                <a:latin typeface="Times New Roman"/>
                <a:ea typeface="+mn-lt"/>
                <a:cs typeface="Times New Roman"/>
              </a:rPr>
              <a:t>average accuracy across all folds</a:t>
            </a:r>
            <a:r>
              <a:rPr lang="en-US">
                <a:latin typeface="Times New Roman"/>
                <a:ea typeface="+mn-lt"/>
                <a:cs typeface="Times New Roman"/>
              </a:rPr>
              <a:t>, providing a more reliable evaluation.</a:t>
            </a:r>
            <a:endParaRPr lang="en-US">
              <a:latin typeface="Times New Roman"/>
              <a:cs typeface="Times New Roman"/>
            </a:endParaRPr>
          </a:p>
          <a:p>
            <a:pPr>
              <a:buFont typeface="Arial" charset="2"/>
              <a:buChar char="•"/>
            </a:pPr>
            <a:endParaRPr lang="en-US"/>
          </a:p>
        </p:txBody>
      </p:sp>
    </p:spTree>
    <p:extLst>
      <p:ext uri="{BB962C8B-B14F-4D97-AF65-F5344CB8AC3E}">
        <p14:creationId xmlns:p14="http://schemas.microsoft.com/office/powerpoint/2010/main" val="1874562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67122-0190-B85B-7226-BC4D01C80A17}"/>
              </a:ext>
            </a:extLst>
          </p:cNvPr>
          <p:cNvSpPr>
            <a:spLocks noGrp="1"/>
          </p:cNvSpPr>
          <p:nvPr>
            <p:ph type="title"/>
          </p:nvPr>
        </p:nvSpPr>
        <p:spPr>
          <a:xfrm>
            <a:off x="1644019" y="624110"/>
            <a:ext cx="8911687" cy="777682"/>
          </a:xfrm>
        </p:spPr>
        <p:txBody>
          <a:bodyPr>
            <a:normAutofit/>
          </a:bodyPr>
          <a:lstStyle/>
          <a:p>
            <a:r>
              <a:rPr lang="en-US">
                <a:latin typeface="Times New Roman"/>
                <a:ea typeface="+mj-lt"/>
                <a:cs typeface="Times New Roman"/>
              </a:rPr>
              <a:t>Model Evaluation and Deployment</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A1C62F4F-D7D1-D9E8-637F-C5A9E7B40CB2}"/>
              </a:ext>
            </a:extLst>
          </p:cNvPr>
          <p:cNvSpPr>
            <a:spLocks noGrp="1"/>
          </p:cNvSpPr>
          <p:nvPr>
            <p:ph idx="1"/>
          </p:nvPr>
        </p:nvSpPr>
        <p:spPr>
          <a:xfrm>
            <a:off x="2186646" y="1544128"/>
            <a:ext cx="8915400" cy="5186603"/>
          </a:xfrm>
        </p:spPr>
        <p:txBody>
          <a:bodyPr vert="horz" lIns="91440" tIns="45720" rIns="91440" bIns="45720" rtlCol="0" anchor="t">
            <a:normAutofit/>
          </a:bodyPr>
          <a:lstStyle/>
          <a:p>
            <a:pPr marL="0" indent="0">
              <a:buNone/>
            </a:pPr>
            <a:r>
              <a:rPr lang="en-US" b="1">
                <a:latin typeface="Times New Roman"/>
                <a:ea typeface="+mn-lt"/>
                <a:cs typeface="Times New Roman"/>
              </a:rPr>
              <a:t>Evaluation Metrics</a:t>
            </a:r>
            <a:endParaRPr lang="en-US">
              <a:latin typeface="Times New Roman"/>
              <a:cs typeface="Times New Roman"/>
            </a:endParaRPr>
          </a:p>
          <a:p>
            <a:pPr>
              <a:buFont typeface="Arial" charset="2"/>
              <a:buChar char="•"/>
            </a:pPr>
            <a:r>
              <a:rPr lang="en-US" b="1">
                <a:latin typeface="Times New Roman"/>
                <a:ea typeface="+mn-lt"/>
                <a:cs typeface="Times New Roman"/>
              </a:rPr>
              <a:t>Accuracy Score</a:t>
            </a:r>
            <a:r>
              <a:rPr lang="en-US">
                <a:latin typeface="Times New Roman"/>
                <a:ea typeface="+mn-lt"/>
                <a:cs typeface="Times New Roman"/>
              </a:rPr>
              <a:t> – Overall prediction correctness</a:t>
            </a:r>
            <a:endParaRPr lang="en-US">
              <a:latin typeface="Times New Roman"/>
              <a:cs typeface="Times New Roman"/>
            </a:endParaRPr>
          </a:p>
          <a:p>
            <a:pPr>
              <a:buFont typeface="Arial" charset="2"/>
              <a:buChar char="•"/>
            </a:pPr>
            <a:r>
              <a:rPr lang="en-US" b="1">
                <a:latin typeface="Times New Roman"/>
                <a:ea typeface="+mn-lt"/>
                <a:cs typeface="Times New Roman"/>
              </a:rPr>
              <a:t>Confusion Matrix</a:t>
            </a:r>
            <a:r>
              <a:rPr lang="en-US">
                <a:latin typeface="Times New Roman"/>
                <a:ea typeface="+mn-lt"/>
                <a:cs typeface="Times New Roman"/>
              </a:rPr>
              <a:t> – Shows correct and incorrect predictions for each class</a:t>
            </a:r>
            <a:endParaRPr lang="en-US">
              <a:latin typeface="Times New Roman"/>
              <a:cs typeface="Times New Roman"/>
            </a:endParaRPr>
          </a:p>
          <a:p>
            <a:pPr>
              <a:buFont typeface="Arial" charset="2"/>
              <a:buChar char="•"/>
            </a:pPr>
            <a:r>
              <a:rPr lang="en-US" b="1">
                <a:latin typeface="Times New Roman"/>
                <a:ea typeface="+mn-lt"/>
                <a:cs typeface="Times New Roman"/>
              </a:rPr>
              <a:t>Classification Report</a:t>
            </a:r>
            <a:r>
              <a:rPr lang="en-US">
                <a:latin typeface="Times New Roman"/>
                <a:ea typeface="+mn-lt"/>
                <a:cs typeface="Times New Roman"/>
              </a:rPr>
              <a:t> – Includes Precision, Recall, and F1-score</a:t>
            </a:r>
            <a:endParaRPr lang="en-US">
              <a:latin typeface="Times New Roman"/>
              <a:cs typeface="Times New Roman"/>
            </a:endParaRPr>
          </a:p>
          <a:p>
            <a:pPr marL="0" indent="0">
              <a:buNone/>
            </a:pPr>
            <a:r>
              <a:rPr lang="en-US" b="1">
                <a:latin typeface="Times New Roman"/>
                <a:ea typeface="+mn-lt"/>
                <a:cs typeface="Times New Roman"/>
              </a:rPr>
              <a:t>Feature Importance</a:t>
            </a:r>
            <a:endParaRPr lang="en-US">
              <a:latin typeface="Times New Roman"/>
              <a:cs typeface="Times New Roman"/>
            </a:endParaRPr>
          </a:p>
          <a:p>
            <a:pPr>
              <a:buFont typeface="Arial" charset="2"/>
              <a:buChar char="•"/>
            </a:pPr>
            <a:r>
              <a:rPr lang="en-US">
                <a:latin typeface="Times New Roman"/>
                <a:ea typeface="+mn-lt"/>
                <a:cs typeface="Times New Roman"/>
              </a:rPr>
              <a:t>Random Forest provides </a:t>
            </a:r>
            <a:r>
              <a:rPr lang="en-US" b="1">
                <a:latin typeface="Times New Roman"/>
                <a:ea typeface="+mn-lt"/>
                <a:cs typeface="Times New Roman"/>
              </a:rPr>
              <a:t>feature importance values</a:t>
            </a:r>
            <a:r>
              <a:rPr lang="en-US">
                <a:latin typeface="Times New Roman"/>
                <a:ea typeface="+mn-lt"/>
                <a:cs typeface="Times New Roman"/>
              </a:rPr>
              <a:t>, indicating which parameters most influence collision risk prediction.</a:t>
            </a:r>
            <a:endParaRPr lang="en-US">
              <a:latin typeface="Times New Roman"/>
              <a:cs typeface="Times New Roman"/>
            </a:endParaRPr>
          </a:p>
          <a:p>
            <a:pPr>
              <a:buFont typeface="Arial" charset="2"/>
              <a:buChar char="•"/>
            </a:pPr>
            <a:r>
              <a:rPr lang="en-US">
                <a:latin typeface="Times New Roman"/>
                <a:ea typeface="+mn-lt"/>
                <a:cs typeface="Times New Roman"/>
              </a:rPr>
              <a:t>Typically, important features include:</a:t>
            </a:r>
            <a:endParaRPr lang="en-US">
              <a:latin typeface="Times New Roman"/>
              <a:cs typeface="Times New Roman"/>
            </a:endParaRPr>
          </a:p>
          <a:p>
            <a:pPr>
              <a:buFont typeface="Arial" charset="2"/>
              <a:buChar char="•"/>
            </a:pPr>
            <a:r>
              <a:rPr lang="en-US">
                <a:latin typeface="Times New Roman"/>
                <a:ea typeface="+mn-lt"/>
                <a:cs typeface="Times New Roman"/>
              </a:rPr>
              <a:t>Time-To-Collision (TTC)</a:t>
            </a:r>
            <a:endParaRPr lang="en-US">
              <a:latin typeface="Times New Roman"/>
              <a:cs typeface="Times New Roman"/>
            </a:endParaRPr>
          </a:p>
          <a:p>
            <a:pPr>
              <a:buFont typeface="Arial" charset="2"/>
              <a:buChar char="•"/>
            </a:pPr>
            <a:r>
              <a:rPr lang="en-US">
                <a:latin typeface="Times New Roman"/>
                <a:ea typeface="+mn-lt"/>
                <a:cs typeface="Times New Roman"/>
              </a:rPr>
              <a:t>Distance</a:t>
            </a:r>
            <a:endParaRPr lang="en-US">
              <a:latin typeface="Times New Roman"/>
              <a:cs typeface="Times New Roman"/>
            </a:endParaRPr>
          </a:p>
          <a:p>
            <a:pPr>
              <a:buFont typeface="Arial" charset="2"/>
              <a:buChar char="•"/>
            </a:pPr>
            <a:r>
              <a:rPr lang="en-US">
                <a:latin typeface="Times New Roman"/>
                <a:ea typeface="+mn-lt"/>
                <a:cs typeface="Times New Roman"/>
              </a:rPr>
              <a:t>Relative Velocity</a:t>
            </a:r>
            <a:endParaRPr lang="en-US">
              <a:latin typeface="Times New Roman"/>
              <a:cs typeface="Times New Roman"/>
            </a:endParaRPr>
          </a:p>
          <a:p>
            <a:pPr marL="0" indent="0">
              <a:buNone/>
            </a:pPr>
            <a:r>
              <a:rPr lang="en-US" b="1">
                <a:latin typeface="Times New Roman"/>
                <a:ea typeface="+mn-lt"/>
                <a:cs typeface="Times New Roman"/>
              </a:rPr>
              <a:t>Model Deployment</a:t>
            </a:r>
            <a:endParaRPr lang="en-US">
              <a:latin typeface="Times New Roman"/>
              <a:cs typeface="Times New Roman"/>
            </a:endParaRPr>
          </a:p>
          <a:p>
            <a:pPr>
              <a:buFont typeface="Arial" charset="2"/>
              <a:buChar char="•"/>
            </a:pPr>
            <a:r>
              <a:rPr lang="en-US">
                <a:latin typeface="Times New Roman"/>
                <a:ea typeface="+mn-lt"/>
                <a:cs typeface="Times New Roman"/>
              </a:rPr>
              <a:t>The trained model is saved as a </a:t>
            </a:r>
            <a:r>
              <a:rPr lang="en-US" b="1">
                <a:latin typeface="Times New Roman"/>
                <a:ea typeface="+mn-lt"/>
                <a:cs typeface="Times New Roman"/>
              </a:rPr>
              <a:t>Pickle (.</a:t>
            </a:r>
            <a:r>
              <a:rPr lang="en-US" b="1" err="1">
                <a:latin typeface="Times New Roman"/>
                <a:ea typeface="+mn-lt"/>
                <a:cs typeface="Times New Roman"/>
              </a:rPr>
              <a:t>pkl</a:t>
            </a:r>
            <a:r>
              <a:rPr lang="en-US" b="1">
                <a:latin typeface="Times New Roman"/>
                <a:ea typeface="+mn-lt"/>
                <a:cs typeface="Times New Roman"/>
              </a:rPr>
              <a:t>) file</a:t>
            </a:r>
            <a:r>
              <a:rPr lang="en-US">
                <a:latin typeface="Times New Roman"/>
                <a:ea typeface="+mn-lt"/>
                <a:cs typeface="Times New Roman"/>
              </a:rPr>
              <a:t>:</a:t>
            </a:r>
            <a:endParaRPr lang="en-US">
              <a:latin typeface="Times New Roman"/>
              <a:cs typeface="Times New Roman"/>
            </a:endParaRPr>
          </a:p>
          <a:p>
            <a:pPr>
              <a:buFont typeface="Arial" charset="2"/>
              <a:buChar char="•"/>
            </a:pPr>
            <a:endParaRPr lang="en-US"/>
          </a:p>
        </p:txBody>
      </p:sp>
    </p:spTree>
    <p:extLst>
      <p:ext uri="{BB962C8B-B14F-4D97-AF65-F5344CB8AC3E}">
        <p14:creationId xmlns:p14="http://schemas.microsoft.com/office/powerpoint/2010/main" val="4212534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C6561-8C83-F3BC-8D11-44254E6FF5D4}"/>
              </a:ext>
            </a:extLst>
          </p:cNvPr>
          <p:cNvSpPr>
            <a:spLocks noGrp="1"/>
          </p:cNvSpPr>
          <p:nvPr>
            <p:ph type="title"/>
          </p:nvPr>
        </p:nvSpPr>
        <p:spPr>
          <a:xfrm>
            <a:off x="1644019" y="652865"/>
            <a:ext cx="8911687" cy="662664"/>
          </a:xfrm>
        </p:spPr>
        <p:txBody>
          <a:bodyPr/>
          <a:lstStyle/>
          <a:p>
            <a:r>
              <a:rPr lang="en-US">
                <a:latin typeface="Times New Roman"/>
                <a:cs typeface="Times New Roman"/>
              </a:rPr>
              <a:t>Output Image</a:t>
            </a:r>
          </a:p>
        </p:txBody>
      </p:sp>
      <p:pic>
        <p:nvPicPr>
          <p:cNvPr id="4" name="Content Placeholder 3" descr="A screenshot of a computer&#10;&#10;AI-generated content may be incorrect.">
            <a:extLst>
              <a:ext uri="{FF2B5EF4-FFF2-40B4-BE49-F238E27FC236}">
                <a16:creationId xmlns:a16="http://schemas.microsoft.com/office/drawing/2014/main" id="{FD72650B-69EB-5F5D-CFCC-5DE5EC3FAB64}"/>
              </a:ext>
            </a:extLst>
          </p:cNvPr>
          <p:cNvPicPr>
            <a:picLocks noGrp="1" noChangeAspect="1"/>
          </p:cNvPicPr>
          <p:nvPr>
            <p:ph idx="1"/>
          </p:nvPr>
        </p:nvPicPr>
        <p:blipFill>
          <a:blip r:embed="rId2"/>
          <a:stretch>
            <a:fillRect/>
          </a:stretch>
        </p:blipFill>
        <p:spPr>
          <a:xfrm>
            <a:off x="3190834" y="1328468"/>
            <a:ext cx="5253626" cy="53159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0059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C22F0-3083-EE6E-4D1F-6FD2C664E16B}"/>
              </a:ext>
            </a:extLst>
          </p:cNvPr>
          <p:cNvSpPr>
            <a:spLocks noGrp="1"/>
          </p:cNvSpPr>
          <p:nvPr>
            <p:ph type="title"/>
          </p:nvPr>
        </p:nvSpPr>
        <p:spPr>
          <a:xfrm>
            <a:off x="1644019" y="695997"/>
            <a:ext cx="8911687" cy="763306"/>
          </a:xfrm>
        </p:spPr>
        <p:txBody>
          <a:bodyPr/>
          <a:lstStyle/>
          <a:p>
            <a:r>
              <a:rPr lang="en-US">
                <a:latin typeface="Times New Roman"/>
                <a:ea typeface="+mj-lt"/>
                <a:cs typeface="Times New Roman"/>
              </a:rPr>
              <a:t>Web Development Overview</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745E8955-C64F-0DB8-451E-7268F5FF2525}"/>
              </a:ext>
            </a:extLst>
          </p:cNvPr>
          <p:cNvSpPr>
            <a:spLocks noGrp="1"/>
          </p:cNvSpPr>
          <p:nvPr>
            <p:ph idx="1"/>
          </p:nvPr>
        </p:nvSpPr>
        <p:spPr>
          <a:xfrm>
            <a:off x="2201023" y="2320506"/>
            <a:ext cx="8915400" cy="4395847"/>
          </a:xfrm>
        </p:spPr>
        <p:txBody>
          <a:bodyPr vert="horz" lIns="91440" tIns="45720" rIns="91440" bIns="45720" rtlCol="0" anchor="t">
            <a:normAutofit/>
          </a:bodyPr>
          <a:lstStyle/>
          <a:p>
            <a:pPr>
              <a:buFont typeface="Arial" charset="2"/>
              <a:buChar char="•"/>
            </a:pPr>
            <a:r>
              <a:rPr lang="en-US" b="1">
                <a:latin typeface="Times New Roman"/>
                <a:ea typeface="+mn-lt"/>
                <a:cs typeface="Times New Roman"/>
              </a:rPr>
              <a:t>Frontend (React): </a:t>
            </a:r>
            <a:r>
              <a:rPr lang="en-US">
                <a:latin typeface="Times New Roman"/>
                <a:ea typeface="+mn-lt"/>
                <a:cs typeface="Times New Roman"/>
              </a:rPr>
              <a:t>Builds the user interface where users input sensor data and view predictions.</a:t>
            </a:r>
            <a:endParaRPr lang="en-US">
              <a:latin typeface="Times New Roman"/>
              <a:cs typeface="Times New Roman"/>
            </a:endParaRPr>
          </a:p>
          <a:p>
            <a:pPr>
              <a:buFont typeface="Arial" charset="2"/>
              <a:buChar char="•"/>
            </a:pPr>
            <a:r>
              <a:rPr lang="en-US" b="1">
                <a:latin typeface="Times New Roman"/>
                <a:ea typeface="+mn-lt"/>
                <a:cs typeface="Times New Roman"/>
              </a:rPr>
              <a:t>Backend (</a:t>
            </a:r>
            <a:r>
              <a:rPr lang="en-US" b="1" err="1">
                <a:latin typeface="Times New Roman"/>
                <a:ea typeface="+mn-lt"/>
                <a:cs typeface="Times New Roman"/>
              </a:rPr>
              <a:t>FastAPI</a:t>
            </a:r>
            <a:r>
              <a:rPr lang="en-US" b="1">
                <a:latin typeface="Times New Roman"/>
                <a:ea typeface="+mn-lt"/>
                <a:cs typeface="Times New Roman"/>
              </a:rPr>
              <a:t>): </a:t>
            </a:r>
            <a:r>
              <a:rPr lang="en-US">
                <a:latin typeface="Times New Roman"/>
                <a:ea typeface="+mn-lt"/>
                <a:cs typeface="Times New Roman"/>
              </a:rPr>
              <a:t>Handles the prediction logic, stores data, and serves the frontend with results.</a:t>
            </a:r>
            <a:endParaRPr lang="en-US">
              <a:latin typeface="Times New Roman"/>
              <a:cs typeface="Times New Roman"/>
            </a:endParaRPr>
          </a:p>
          <a:p>
            <a:pPr>
              <a:buFont typeface="Arial" charset="2"/>
              <a:buChar char="•"/>
            </a:pPr>
            <a:r>
              <a:rPr lang="en-US" b="1">
                <a:latin typeface="Times New Roman"/>
                <a:ea typeface="+mn-lt"/>
                <a:cs typeface="Times New Roman"/>
              </a:rPr>
              <a:t>Database (SQLite): </a:t>
            </a:r>
            <a:r>
              <a:rPr lang="en-US">
                <a:latin typeface="Times New Roman"/>
                <a:ea typeface="+mn-lt"/>
                <a:cs typeface="Times New Roman"/>
              </a:rPr>
              <a:t>Stores historical prediction data for later retrieval.</a:t>
            </a:r>
          </a:p>
          <a:p>
            <a:pPr>
              <a:buFont typeface="Arial" charset="2"/>
              <a:buChar char="•"/>
            </a:pPr>
            <a:r>
              <a:rPr lang="en-US" b="1">
                <a:latin typeface="Times New Roman"/>
                <a:cs typeface="Times New Roman"/>
              </a:rPr>
              <a:t>Communication(CORS)</a:t>
            </a:r>
            <a:r>
              <a:rPr lang="en-US">
                <a:latin typeface="Times New Roman"/>
                <a:cs typeface="Times New Roman"/>
              </a:rPr>
              <a:t>: RESTful APIs for interaction between the frontend and backend.</a:t>
            </a:r>
          </a:p>
        </p:txBody>
      </p:sp>
    </p:spTree>
    <p:extLst>
      <p:ext uri="{BB962C8B-B14F-4D97-AF65-F5344CB8AC3E}">
        <p14:creationId xmlns:p14="http://schemas.microsoft.com/office/powerpoint/2010/main" val="2970968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1F601-D7C3-537E-53BA-E7062B343A78}"/>
              </a:ext>
            </a:extLst>
          </p:cNvPr>
          <p:cNvSpPr>
            <a:spLocks noGrp="1"/>
          </p:cNvSpPr>
          <p:nvPr>
            <p:ph type="title"/>
          </p:nvPr>
        </p:nvSpPr>
        <p:spPr>
          <a:xfrm>
            <a:off x="1644019" y="652865"/>
            <a:ext cx="8911687" cy="677041"/>
          </a:xfrm>
        </p:spPr>
        <p:txBody>
          <a:bodyPr/>
          <a:lstStyle/>
          <a:p>
            <a:r>
              <a:rPr lang="en-US">
                <a:latin typeface="Times New Roman"/>
                <a:ea typeface="+mj-lt"/>
                <a:cs typeface="Times New Roman"/>
              </a:rPr>
              <a:t>Frontend: React Application</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F0043E1D-CA8C-FFF4-5157-F7BE7E6B6F9E}"/>
              </a:ext>
            </a:extLst>
          </p:cNvPr>
          <p:cNvSpPr>
            <a:spLocks noGrp="1"/>
          </p:cNvSpPr>
          <p:nvPr>
            <p:ph idx="1"/>
          </p:nvPr>
        </p:nvSpPr>
        <p:spPr>
          <a:xfrm>
            <a:off x="2201023" y="1716656"/>
            <a:ext cx="8915400" cy="4870301"/>
          </a:xfrm>
        </p:spPr>
        <p:txBody>
          <a:bodyPr vert="horz" lIns="91440" tIns="45720" rIns="91440" bIns="45720" rtlCol="0" anchor="t">
            <a:normAutofit/>
          </a:bodyPr>
          <a:lstStyle/>
          <a:p>
            <a:pPr marL="0" indent="0">
              <a:buNone/>
            </a:pPr>
            <a:r>
              <a:rPr lang="en-US" b="1">
                <a:latin typeface="Times New Roman"/>
                <a:ea typeface="+mn-lt"/>
                <a:cs typeface="Times New Roman"/>
              </a:rPr>
              <a:t>Main Functionality:</a:t>
            </a:r>
            <a:endParaRPr lang="en-US" b="1">
              <a:latin typeface="Times New Roman"/>
              <a:cs typeface="Times New Roman"/>
            </a:endParaRPr>
          </a:p>
          <a:p>
            <a:pPr>
              <a:buFont typeface="Arial" charset="2"/>
              <a:buChar char="•"/>
            </a:pPr>
            <a:r>
              <a:rPr lang="en-US">
                <a:latin typeface="Times New Roman"/>
                <a:ea typeface="+mn-lt"/>
                <a:cs typeface="Times New Roman"/>
              </a:rPr>
              <a:t>Collects sensor input from the user.</a:t>
            </a:r>
            <a:endParaRPr lang="en-US">
              <a:latin typeface="Times New Roman"/>
              <a:cs typeface="Times New Roman"/>
            </a:endParaRPr>
          </a:p>
          <a:p>
            <a:pPr>
              <a:buFont typeface="Arial" charset="2"/>
              <a:buChar char="•"/>
            </a:pPr>
            <a:r>
              <a:rPr lang="en-US">
                <a:latin typeface="Times New Roman"/>
                <a:ea typeface="+mn-lt"/>
                <a:cs typeface="Times New Roman"/>
              </a:rPr>
              <a:t>Displays prediction results (SAFE, RISK, HIGH RISK).</a:t>
            </a:r>
            <a:endParaRPr lang="en-US">
              <a:latin typeface="Times New Roman"/>
              <a:cs typeface="Times New Roman"/>
            </a:endParaRPr>
          </a:p>
          <a:p>
            <a:pPr>
              <a:buFont typeface="Arial" charset="2"/>
              <a:buChar char="•"/>
            </a:pPr>
            <a:r>
              <a:rPr lang="en-US">
                <a:latin typeface="Times New Roman"/>
                <a:ea typeface="+mn-lt"/>
                <a:cs typeface="Times New Roman"/>
              </a:rPr>
              <a:t>Fetches and displays prediction history.</a:t>
            </a:r>
          </a:p>
          <a:p>
            <a:pPr marL="0" indent="0">
              <a:buNone/>
            </a:pPr>
            <a:r>
              <a:rPr lang="en-US" b="1">
                <a:latin typeface="Times New Roman"/>
                <a:ea typeface="+mn-lt"/>
                <a:cs typeface="Times New Roman"/>
              </a:rPr>
              <a:t>Key Components:</a:t>
            </a:r>
            <a:endParaRPr lang="en-US" b="1">
              <a:latin typeface="Times New Roman"/>
              <a:cs typeface="Times New Roman"/>
            </a:endParaRPr>
          </a:p>
          <a:p>
            <a:pPr>
              <a:buFont typeface="Arial" charset="2"/>
              <a:buChar char="•"/>
            </a:pPr>
            <a:r>
              <a:rPr lang="en-US">
                <a:latin typeface="Times New Roman"/>
                <a:ea typeface="+mn-lt"/>
                <a:cs typeface="Times New Roman"/>
              </a:rPr>
              <a:t>App.js: Main UI component that handles form submission, communicates with the backend, and displays prediction and history.</a:t>
            </a:r>
            <a:endParaRPr lang="en-US">
              <a:latin typeface="Times New Roman"/>
              <a:cs typeface="Times New Roman"/>
            </a:endParaRPr>
          </a:p>
          <a:p>
            <a:pPr>
              <a:buFont typeface="Arial" charset="2"/>
              <a:buChar char="•"/>
            </a:pPr>
            <a:r>
              <a:rPr lang="en-US">
                <a:latin typeface="Times New Roman"/>
                <a:ea typeface="+mn-lt"/>
                <a:cs typeface="Times New Roman"/>
              </a:rPr>
              <a:t>History Table: Shows a list of past predictions including sensor values and the resulting safety status.</a:t>
            </a:r>
            <a:endParaRPr lang="en-US">
              <a:latin typeface="Times New Roman"/>
              <a:cs typeface="Times New Roman"/>
            </a:endParaRPr>
          </a:p>
          <a:p>
            <a:pPr>
              <a:buFont typeface="Arial" charset="2"/>
              <a:buChar char="•"/>
            </a:pPr>
            <a:r>
              <a:rPr lang="en-US">
                <a:latin typeface="Times New Roman"/>
                <a:ea typeface="+mn-lt"/>
                <a:cs typeface="Times New Roman"/>
              </a:rPr>
              <a:t>Status Visualization: Visual elements like color coding for safety levels (e.g., green for SAFE, orange for RISK, red for HIGH RISK).</a:t>
            </a:r>
            <a:endParaRPr lang="en-US">
              <a:latin typeface="Times New Roman"/>
              <a:cs typeface="Times New Roman"/>
            </a:endParaRPr>
          </a:p>
          <a:p>
            <a:pPr>
              <a:buFont typeface="Arial" charset="2"/>
              <a:buChar char="•"/>
            </a:pPr>
            <a:endParaRPr lang="en-US"/>
          </a:p>
        </p:txBody>
      </p:sp>
    </p:spTree>
    <p:extLst>
      <p:ext uri="{BB962C8B-B14F-4D97-AF65-F5344CB8AC3E}">
        <p14:creationId xmlns:p14="http://schemas.microsoft.com/office/powerpoint/2010/main" val="763954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F54E8-F35C-AE9C-5316-4885AE2182E5}"/>
              </a:ext>
            </a:extLst>
          </p:cNvPr>
          <p:cNvSpPr>
            <a:spLocks noGrp="1"/>
          </p:cNvSpPr>
          <p:nvPr>
            <p:ph type="title"/>
          </p:nvPr>
        </p:nvSpPr>
        <p:spPr>
          <a:xfrm>
            <a:off x="1644019" y="595355"/>
            <a:ext cx="8911687" cy="806438"/>
          </a:xfrm>
        </p:spPr>
        <p:txBody>
          <a:bodyPr/>
          <a:lstStyle/>
          <a:p>
            <a:r>
              <a:rPr lang="en-US" err="1">
                <a:latin typeface="Times New Roman"/>
                <a:cs typeface="Times New Roman"/>
              </a:rPr>
              <a:t>FrontEnd</a:t>
            </a:r>
            <a:r>
              <a:rPr lang="en-US" dirty="0">
                <a:latin typeface="Times New Roman"/>
                <a:cs typeface="Times New Roman"/>
              </a:rPr>
              <a:t> UI</a:t>
            </a:r>
          </a:p>
        </p:txBody>
      </p:sp>
      <p:pic>
        <p:nvPicPr>
          <p:cNvPr id="4" name="Content Placeholder 3" descr="A screenshot of a vehicle safety prediction test&#10;&#10;AI-generated content may be incorrect.">
            <a:extLst>
              <a:ext uri="{FF2B5EF4-FFF2-40B4-BE49-F238E27FC236}">
                <a16:creationId xmlns:a16="http://schemas.microsoft.com/office/drawing/2014/main" id="{61AF295C-FFFD-39B0-F6D0-C729E21D4C99}"/>
              </a:ext>
            </a:extLst>
          </p:cNvPr>
          <p:cNvPicPr>
            <a:picLocks noGrp="1" noChangeAspect="1"/>
          </p:cNvPicPr>
          <p:nvPr>
            <p:ph idx="1"/>
          </p:nvPr>
        </p:nvPicPr>
        <p:blipFill>
          <a:blip r:embed="rId2"/>
          <a:srcRect t="268"/>
          <a:stretch>
            <a:fillRect/>
          </a:stretch>
        </p:blipFill>
        <p:spPr>
          <a:xfrm>
            <a:off x="1640307" y="1416184"/>
            <a:ext cx="10094343" cy="44599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37170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85DBA-7EBF-4163-2D5C-88B1523BAFFB}"/>
              </a:ext>
            </a:extLst>
          </p:cNvPr>
          <p:cNvSpPr>
            <a:spLocks noGrp="1"/>
          </p:cNvSpPr>
          <p:nvPr>
            <p:ph type="title"/>
          </p:nvPr>
        </p:nvSpPr>
        <p:spPr>
          <a:xfrm>
            <a:off x="1644019" y="624110"/>
            <a:ext cx="8911687" cy="777683"/>
          </a:xfrm>
        </p:spPr>
        <p:txBody>
          <a:bodyPr/>
          <a:lstStyle/>
          <a:p>
            <a:r>
              <a:rPr lang="en-US">
                <a:latin typeface="Times New Roman"/>
                <a:ea typeface="+mj-lt"/>
                <a:cs typeface="Times New Roman"/>
              </a:rPr>
              <a:t>Backend: FastAPI</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9CD8B856-1492-6A10-5A60-31C15BF15496}"/>
              </a:ext>
            </a:extLst>
          </p:cNvPr>
          <p:cNvSpPr>
            <a:spLocks noGrp="1"/>
          </p:cNvSpPr>
          <p:nvPr>
            <p:ph idx="1"/>
          </p:nvPr>
        </p:nvSpPr>
        <p:spPr>
          <a:xfrm>
            <a:off x="2186646" y="2133600"/>
            <a:ext cx="8915400" cy="4510867"/>
          </a:xfrm>
        </p:spPr>
        <p:txBody>
          <a:bodyPr vert="horz" lIns="91440" tIns="45720" rIns="91440" bIns="45720" rtlCol="0" anchor="t">
            <a:normAutofit/>
          </a:bodyPr>
          <a:lstStyle/>
          <a:p>
            <a:pPr>
              <a:buFont typeface="Arial" charset="2"/>
              <a:buChar char="•"/>
            </a:pPr>
            <a:r>
              <a:rPr lang="en-US">
                <a:latin typeface="Times New Roman"/>
                <a:ea typeface="+mn-lt"/>
                <a:cs typeface="Times New Roman"/>
              </a:rPr>
              <a:t>Main Role: Handles API requests (e.g., /predict, /history), runs the safety prediction model, and saves predictions in the database.</a:t>
            </a:r>
            <a:endParaRPr lang="en-US">
              <a:latin typeface="Times New Roman"/>
              <a:cs typeface="Times New Roman"/>
            </a:endParaRPr>
          </a:p>
          <a:p>
            <a:pPr marL="0" indent="0">
              <a:buNone/>
            </a:pPr>
            <a:r>
              <a:rPr lang="en-US" b="1">
                <a:latin typeface="Times New Roman"/>
                <a:ea typeface="+mn-lt"/>
                <a:cs typeface="Times New Roman"/>
              </a:rPr>
              <a:t>Key Features:</a:t>
            </a:r>
            <a:endParaRPr lang="en-US" b="1">
              <a:latin typeface="Times New Roman"/>
              <a:cs typeface="Times New Roman"/>
            </a:endParaRPr>
          </a:p>
          <a:p>
            <a:pPr>
              <a:buFont typeface="Arial" charset="2"/>
              <a:buChar char="•"/>
            </a:pPr>
            <a:r>
              <a:rPr lang="en-US">
                <a:latin typeface="Times New Roman"/>
                <a:ea typeface="+mn-lt"/>
                <a:cs typeface="Times New Roman"/>
              </a:rPr>
              <a:t> POST /predict: Accepts sensor data, processes the prediction, and returns the safety status.</a:t>
            </a:r>
            <a:endParaRPr lang="en-US">
              <a:latin typeface="Times New Roman"/>
              <a:cs typeface="Times New Roman"/>
            </a:endParaRPr>
          </a:p>
          <a:p>
            <a:pPr>
              <a:buFont typeface="Arial" charset="2"/>
              <a:buChar char="•"/>
            </a:pPr>
            <a:r>
              <a:rPr lang="en-US">
                <a:latin typeface="Times New Roman"/>
                <a:ea typeface="+mn-lt"/>
                <a:cs typeface="Times New Roman"/>
              </a:rPr>
              <a:t> GET /history: Fetches the prediction history (with a limit parameter for pagination).</a:t>
            </a:r>
            <a:endParaRPr lang="en-US">
              <a:latin typeface="Times New Roman"/>
              <a:cs typeface="Times New Roman"/>
            </a:endParaRPr>
          </a:p>
          <a:p>
            <a:pPr>
              <a:buFont typeface="Arial" charset="2"/>
              <a:buChar char="•"/>
            </a:pPr>
            <a:r>
              <a:rPr lang="en-US">
                <a:latin typeface="Times New Roman"/>
                <a:ea typeface="+mn-lt"/>
                <a:cs typeface="Times New Roman"/>
              </a:rPr>
              <a:t> Model Inference: Loads the trained Random Forest model and makes real-time predictions based on incoming data.</a:t>
            </a:r>
            <a:endParaRPr lang="en-US">
              <a:latin typeface="Times New Roman"/>
              <a:cs typeface="Times New Roman"/>
            </a:endParaRPr>
          </a:p>
          <a:p>
            <a:pPr>
              <a:buFont typeface="Arial" charset="2"/>
              <a:buChar char="•"/>
            </a:pPr>
            <a:endParaRPr lang="en-US"/>
          </a:p>
          <a:p>
            <a:pPr>
              <a:buFont typeface="Arial" charset="2"/>
              <a:buChar char="•"/>
            </a:pPr>
            <a:endParaRPr lang="en-US"/>
          </a:p>
        </p:txBody>
      </p:sp>
    </p:spTree>
    <p:extLst>
      <p:ext uri="{BB962C8B-B14F-4D97-AF65-F5344CB8AC3E}">
        <p14:creationId xmlns:p14="http://schemas.microsoft.com/office/powerpoint/2010/main" val="1410944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3CAA8-1919-69C3-7417-091EF7D3C9D8}"/>
              </a:ext>
            </a:extLst>
          </p:cNvPr>
          <p:cNvSpPr>
            <a:spLocks noGrp="1"/>
          </p:cNvSpPr>
          <p:nvPr>
            <p:ph type="title"/>
          </p:nvPr>
        </p:nvSpPr>
        <p:spPr>
          <a:xfrm>
            <a:off x="1644019" y="652865"/>
            <a:ext cx="8911687" cy="720174"/>
          </a:xfrm>
        </p:spPr>
        <p:txBody>
          <a:bodyPr/>
          <a:lstStyle/>
          <a:p>
            <a:r>
              <a:rPr lang="en-US">
                <a:latin typeface="Times New Roman"/>
                <a:ea typeface="+mj-lt"/>
                <a:cs typeface="Times New Roman"/>
              </a:rPr>
              <a:t>Database: SQLite</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95A383AF-ACD4-84D0-862A-08CF75B562CB}"/>
              </a:ext>
            </a:extLst>
          </p:cNvPr>
          <p:cNvSpPr>
            <a:spLocks noGrp="1"/>
          </p:cNvSpPr>
          <p:nvPr>
            <p:ph idx="1"/>
          </p:nvPr>
        </p:nvSpPr>
        <p:spPr>
          <a:xfrm>
            <a:off x="2201023" y="1716656"/>
            <a:ext cx="8915400" cy="4654640"/>
          </a:xfrm>
        </p:spPr>
        <p:txBody>
          <a:bodyPr vert="horz" lIns="91440" tIns="45720" rIns="91440" bIns="45720" rtlCol="0" anchor="t">
            <a:normAutofit/>
          </a:bodyPr>
          <a:lstStyle/>
          <a:p>
            <a:pPr>
              <a:buFont typeface="Arial" charset="2"/>
              <a:buChar char="•"/>
            </a:pPr>
            <a:r>
              <a:rPr lang="en-US">
                <a:latin typeface="Times New Roman"/>
                <a:ea typeface="+mn-lt"/>
                <a:cs typeface="Times New Roman"/>
              </a:rPr>
              <a:t>Purpose: Stores prediction history for future reference and auditing.</a:t>
            </a:r>
            <a:endParaRPr lang="en-US">
              <a:latin typeface="Times New Roman"/>
              <a:cs typeface="Times New Roman"/>
            </a:endParaRPr>
          </a:p>
          <a:p>
            <a:pPr marL="0" indent="0">
              <a:buNone/>
            </a:pPr>
            <a:r>
              <a:rPr lang="en-US" b="1">
                <a:latin typeface="Times New Roman"/>
                <a:ea typeface="+mn-lt"/>
                <a:cs typeface="Times New Roman"/>
              </a:rPr>
              <a:t>Key Fields in Database:</a:t>
            </a:r>
            <a:endParaRPr lang="en-US" b="1">
              <a:latin typeface="Times New Roman"/>
              <a:cs typeface="Times New Roman"/>
            </a:endParaRPr>
          </a:p>
          <a:p>
            <a:pPr>
              <a:buFont typeface="Arial" charset="2"/>
              <a:buChar char="•"/>
            </a:pPr>
            <a:r>
              <a:rPr lang="en-US">
                <a:latin typeface="Times New Roman"/>
                <a:ea typeface="+mn-lt"/>
                <a:cs typeface="Times New Roman"/>
              </a:rPr>
              <a:t>Sensor Inputs: Distance, TTC, Axis, Speed, Steering Angle, Relative Velocity.</a:t>
            </a:r>
            <a:endParaRPr lang="en-US">
              <a:latin typeface="Times New Roman"/>
              <a:cs typeface="Times New Roman"/>
            </a:endParaRPr>
          </a:p>
          <a:p>
            <a:pPr>
              <a:buFont typeface="Arial" charset="2"/>
              <a:buChar char="•"/>
            </a:pPr>
            <a:r>
              <a:rPr lang="en-US">
                <a:latin typeface="Times New Roman"/>
                <a:ea typeface="+mn-lt"/>
                <a:cs typeface="Times New Roman"/>
              </a:rPr>
              <a:t>Predicted Status: The safety level determined by the model (SAFE, RISK, HIGH RISK).</a:t>
            </a:r>
            <a:endParaRPr lang="en-US">
              <a:latin typeface="Times New Roman"/>
              <a:cs typeface="Times New Roman"/>
            </a:endParaRPr>
          </a:p>
          <a:p>
            <a:pPr>
              <a:buFont typeface="Arial" charset="2"/>
              <a:buChar char="•"/>
            </a:pPr>
            <a:r>
              <a:rPr lang="en-US">
                <a:latin typeface="Times New Roman"/>
                <a:ea typeface="+mn-lt"/>
                <a:cs typeface="Times New Roman"/>
              </a:rPr>
              <a:t>Timestamp: The time of the prediction.</a:t>
            </a:r>
            <a:endParaRPr lang="en-US">
              <a:latin typeface="Times New Roman"/>
              <a:cs typeface="Times New Roman"/>
            </a:endParaRPr>
          </a:p>
          <a:p>
            <a:pPr marL="0" indent="0">
              <a:buNone/>
            </a:pPr>
            <a:r>
              <a:rPr lang="en-US" b="1">
                <a:latin typeface="Times New Roman"/>
                <a:ea typeface="+mn-lt"/>
                <a:cs typeface="Times New Roman"/>
              </a:rPr>
              <a:t>Backend Interaction:</a:t>
            </a:r>
            <a:endParaRPr lang="en-US" b="1">
              <a:latin typeface="Times New Roman"/>
              <a:cs typeface="Times New Roman"/>
            </a:endParaRPr>
          </a:p>
          <a:p>
            <a:pPr>
              <a:buFont typeface="Arial" charset="2"/>
              <a:buChar char="•"/>
            </a:pPr>
            <a:r>
              <a:rPr lang="en-US">
                <a:latin typeface="Times New Roman"/>
                <a:ea typeface="+mn-lt"/>
                <a:cs typeface="Times New Roman"/>
              </a:rPr>
              <a:t>Predictions are stored after each request (POST /predict).</a:t>
            </a:r>
            <a:endParaRPr lang="en-US">
              <a:latin typeface="Times New Roman"/>
              <a:cs typeface="Times New Roman"/>
            </a:endParaRPr>
          </a:p>
          <a:p>
            <a:pPr>
              <a:buFont typeface="Arial" charset="2"/>
              <a:buChar char="•"/>
            </a:pPr>
            <a:r>
              <a:rPr lang="en-US">
                <a:latin typeface="Times New Roman"/>
                <a:ea typeface="+mn-lt"/>
                <a:cs typeface="Times New Roman"/>
              </a:rPr>
              <a:t>History can be retrieved by frontend (GET /history).</a:t>
            </a:r>
            <a:endParaRPr lang="en-US">
              <a:latin typeface="Times New Roman"/>
              <a:cs typeface="Times New Roman"/>
            </a:endParaRPr>
          </a:p>
        </p:txBody>
      </p:sp>
    </p:spTree>
    <p:extLst>
      <p:ext uri="{BB962C8B-B14F-4D97-AF65-F5344CB8AC3E}">
        <p14:creationId xmlns:p14="http://schemas.microsoft.com/office/powerpoint/2010/main" val="3569310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454C4-8542-AB72-0663-C45AB11A57D5}"/>
              </a:ext>
            </a:extLst>
          </p:cNvPr>
          <p:cNvSpPr>
            <a:spLocks noGrp="1"/>
          </p:cNvSpPr>
          <p:nvPr>
            <p:ph type="title"/>
          </p:nvPr>
        </p:nvSpPr>
        <p:spPr>
          <a:xfrm>
            <a:off x="1644019" y="624110"/>
            <a:ext cx="8911687" cy="677041"/>
          </a:xfrm>
        </p:spPr>
        <p:txBody>
          <a:bodyPr/>
          <a:lstStyle/>
          <a:p>
            <a:r>
              <a:rPr lang="en-US">
                <a:latin typeface="Times New Roman"/>
                <a:ea typeface="+mj-lt"/>
                <a:cs typeface="Times New Roman"/>
              </a:rPr>
              <a:t>Frontend and Backend Communication</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44E4C319-30F2-060D-ACD4-1AAC471E48CE}"/>
              </a:ext>
            </a:extLst>
          </p:cNvPr>
          <p:cNvSpPr>
            <a:spLocks noGrp="1"/>
          </p:cNvSpPr>
          <p:nvPr>
            <p:ph idx="1"/>
          </p:nvPr>
        </p:nvSpPr>
        <p:spPr>
          <a:xfrm>
            <a:off x="2387929" y="2047336"/>
            <a:ext cx="8915400" cy="4453357"/>
          </a:xfrm>
        </p:spPr>
        <p:txBody>
          <a:bodyPr vert="horz" lIns="91440" tIns="45720" rIns="91440" bIns="45720" rtlCol="0" anchor="t">
            <a:normAutofit/>
          </a:bodyPr>
          <a:lstStyle/>
          <a:p>
            <a:pPr>
              <a:buFont typeface="Arial" charset="2"/>
              <a:buChar char="•"/>
            </a:pPr>
            <a:r>
              <a:rPr lang="en-US">
                <a:solidFill>
                  <a:srgbClr val="404040"/>
                </a:solidFill>
                <a:latin typeface="Times New Roman"/>
                <a:ea typeface="+mn-lt"/>
                <a:cs typeface="Times New Roman"/>
              </a:rPr>
              <a:t>Frontend (React) sends </a:t>
            </a:r>
            <a:r>
              <a:rPr lang="en-US">
                <a:solidFill>
                  <a:schemeClr val="tx1">
                    <a:lumMod val="85000"/>
                    <a:lumOff val="15000"/>
                  </a:schemeClr>
                </a:solidFill>
                <a:latin typeface="Times New Roman"/>
                <a:ea typeface="+mn-lt"/>
                <a:cs typeface="Times New Roman"/>
              </a:rPr>
              <a:t>sensor data to the </a:t>
            </a:r>
            <a:r>
              <a:rPr lang="en-US" err="1">
                <a:solidFill>
                  <a:schemeClr val="tx1">
                    <a:lumMod val="85000"/>
                    <a:lumOff val="15000"/>
                  </a:schemeClr>
                </a:solidFill>
                <a:latin typeface="Times New Roman"/>
                <a:ea typeface="+mn-lt"/>
                <a:cs typeface="Times New Roman"/>
              </a:rPr>
              <a:t>FastAPI</a:t>
            </a:r>
            <a:r>
              <a:rPr lang="en-US">
                <a:solidFill>
                  <a:schemeClr val="tx1">
                    <a:lumMod val="85000"/>
                    <a:lumOff val="15000"/>
                  </a:schemeClr>
                </a:solidFill>
                <a:latin typeface="Times New Roman"/>
                <a:ea typeface="+mn-lt"/>
                <a:cs typeface="Times New Roman"/>
              </a:rPr>
              <a:t> backend using an HTTP POST request.</a:t>
            </a:r>
            <a:endParaRPr lang="en-US">
              <a:solidFill>
                <a:schemeClr val="tx1">
                  <a:lumMod val="85000"/>
                  <a:lumOff val="15000"/>
                </a:schemeClr>
              </a:solidFill>
              <a:latin typeface="Times New Roman"/>
              <a:cs typeface="Times New Roman"/>
            </a:endParaRPr>
          </a:p>
          <a:p>
            <a:pPr>
              <a:buFont typeface="Arial" charset="2"/>
              <a:buChar char="•"/>
            </a:pPr>
            <a:r>
              <a:rPr lang="en-US">
                <a:solidFill>
                  <a:schemeClr val="tx1">
                    <a:lumMod val="85000"/>
                    <a:lumOff val="15000"/>
                  </a:schemeClr>
                </a:solidFill>
                <a:latin typeface="Times New Roman"/>
                <a:ea typeface="+mn-lt"/>
                <a:cs typeface="Times New Roman"/>
              </a:rPr>
              <a:t>Endpoint</a:t>
            </a:r>
            <a:r>
              <a:rPr lang="en-US">
                <a:solidFill>
                  <a:srgbClr val="404040"/>
                </a:solidFill>
                <a:latin typeface="Times New Roman"/>
                <a:ea typeface="+mn-lt"/>
                <a:cs typeface="Times New Roman"/>
              </a:rPr>
              <a:t>: /predict</a:t>
            </a:r>
            <a:endParaRPr lang="en-US"/>
          </a:p>
          <a:p>
            <a:pPr>
              <a:buFont typeface="Arial" charset="2"/>
              <a:buChar char="•"/>
            </a:pPr>
            <a:r>
              <a:rPr lang="en-US">
                <a:solidFill>
                  <a:srgbClr val="404040"/>
                </a:solidFill>
                <a:latin typeface="Times New Roman"/>
                <a:ea typeface="+mn-lt"/>
                <a:cs typeface="Times New Roman"/>
              </a:rPr>
              <a:t>Request Body: Sensor data (e.g., distance, speed, </a:t>
            </a:r>
            <a:r>
              <a:rPr lang="en-US" err="1">
                <a:solidFill>
                  <a:srgbClr val="404040"/>
                </a:solidFill>
                <a:latin typeface="Times New Roman"/>
                <a:ea typeface="+mn-lt"/>
                <a:cs typeface="Times New Roman"/>
              </a:rPr>
              <a:t>steering_angle</a:t>
            </a:r>
            <a:r>
              <a:rPr lang="en-US">
                <a:solidFill>
                  <a:srgbClr val="404040"/>
                </a:solidFill>
                <a:latin typeface="Times New Roman"/>
                <a:ea typeface="+mn-lt"/>
                <a:cs typeface="Times New Roman"/>
              </a:rPr>
              <a:t>)</a:t>
            </a:r>
            <a:endParaRPr lang="en-US">
              <a:latin typeface="Times New Roman"/>
              <a:cs typeface="Times New Roman"/>
            </a:endParaRPr>
          </a:p>
          <a:p>
            <a:pPr marL="0" indent="0">
              <a:buNone/>
            </a:pPr>
            <a:r>
              <a:rPr lang="en-US" b="1">
                <a:latin typeface="Times New Roman"/>
                <a:ea typeface="+mn-lt"/>
                <a:cs typeface="Times New Roman"/>
              </a:rPr>
              <a:t>FastAPI Backend:</a:t>
            </a:r>
            <a:endParaRPr lang="en-US" b="1">
              <a:latin typeface="Times New Roman"/>
              <a:cs typeface="Times New Roman"/>
            </a:endParaRPr>
          </a:p>
          <a:p>
            <a:pPr>
              <a:buFont typeface="Arial" charset="2"/>
              <a:buChar char="•"/>
            </a:pPr>
            <a:r>
              <a:rPr lang="en-US">
                <a:solidFill>
                  <a:schemeClr val="tx1">
                    <a:lumMod val="85000"/>
                    <a:lumOff val="15000"/>
                  </a:schemeClr>
                </a:solidFill>
                <a:latin typeface="Times New Roman"/>
                <a:ea typeface="+mn-lt"/>
                <a:cs typeface="Times New Roman"/>
              </a:rPr>
              <a:t>Receives and validates the incoming sensor data.</a:t>
            </a:r>
          </a:p>
          <a:p>
            <a:pPr>
              <a:buFont typeface="Arial" charset="2"/>
              <a:buChar char="•"/>
            </a:pPr>
            <a:r>
              <a:rPr lang="en-US">
                <a:solidFill>
                  <a:schemeClr val="tx1">
                    <a:lumMod val="85000"/>
                    <a:lumOff val="15000"/>
                  </a:schemeClr>
                </a:solidFill>
                <a:latin typeface="Times New Roman"/>
                <a:ea typeface="+mn-lt"/>
                <a:cs typeface="Times New Roman"/>
              </a:rPr>
              <a:t>Runs ML model inference to predict safety status.</a:t>
            </a:r>
            <a:endParaRPr lang="en-US">
              <a:solidFill>
                <a:schemeClr val="tx1">
                  <a:lumMod val="85000"/>
                  <a:lumOff val="15000"/>
                </a:schemeClr>
              </a:solidFill>
              <a:latin typeface="Times New Roman"/>
              <a:cs typeface="Times New Roman"/>
            </a:endParaRPr>
          </a:p>
          <a:p>
            <a:pPr>
              <a:buFont typeface="Arial" charset="2"/>
              <a:buChar char="•"/>
            </a:pPr>
            <a:r>
              <a:rPr lang="en-US">
                <a:solidFill>
                  <a:schemeClr val="tx1">
                    <a:lumMod val="85000"/>
                    <a:lumOff val="15000"/>
                  </a:schemeClr>
                </a:solidFill>
                <a:latin typeface="Times New Roman"/>
                <a:ea typeface="+mn-lt"/>
                <a:cs typeface="Times New Roman"/>
              </a:rPr>
              <a:t>Stores input and prediction records in SQLite.</a:t>
            </a:r>
          </a:p>
          <a:p>
            <a:pPr>
              <a:buFont typeface="Arial" charset="2"/>
              <a:buChar char="•"/>
            </a:pPr>
            <a:r>
              <a:rPr lang="en-US">
                <a:solidFill>
                  <a:schemeClr val="tx1">
                    <a:lumMod val="85000"/>
                    <a:lumOff val="15000"/>
                  </a:schemeClr>
                </a:solidFill>
                <a:latin typeface="Times New Roman"/>
                <a:ea typeface="+mn-lt"/>
                <a:cs typeface="Times New Roman"/>
              </a:rPr>
              <a:t>Returns the prediction response to the frontend.</a:t>
            </a:r>
          </a:p>
          <a:p>
            <a:pPr marL="0" indent="0">
              <a:buNone/>
            </a:pPr>
            <a:r>
              <a:rPr lang="en-US" b="1">
                <a:solidFill>
                  <a:schemeClr val="tx1">
                    <a:lumMod val="85000"/>
                    <a:lumOff val="15000"/>
                  </a:schemeClr>
                </a:solidFill>
                <a:latin typeface="Times New Roman"/>
                <a:ea typeface="+mn-lt"/>
                <a:cs typeface="Times New Roman"/>
              </a:rPr>
              <a:t>Frontend Response Handling</a:t>
            </a:r>
            <a:endParaRPr lang="en-US" b="1">
              <a:solidFill>
                <a:schemeClr val="tx1">
                  <a:lumMod val="85000"/>
                  <a:lumOff val="15000"/>
                </a:schemeClr>
              </a:solidFill>
              <a:latin typeface="Times New Roman"/>
              <a:cs typeface="Times New Roman"/>
            </a:endParaRPr>
          </a:p>
          <a:p>
            <a:pPr>
              <a:buFont typeface="Arial" charset="2"/>
              <a:buChar char="•"/>
            </a:pPr>
            <a:r>
              <a:rPr lang="en-US">
                <a:solidFill>
                  <a:schemeClr val="tx1">
                    <a:lumMod val="85000"/>
                    <a:lumOff val="15000"/>
                  </a:schemeClr>
                </a:solidFill>
                <a:latin typeface="Times New Roman"/>
                <a:ea typeface="+mn-lt"/>
                <a:cs typeface="Times New Roman"/>
              </a:rPr>
              <a:t>Displays the predicted safety result to the user.</a:t>
            </a:r>
            <a:endParaRPr lang="en-US">
              <a:solidFill>
                <a:schemeClr val="tx1">
                  <a:lumMod val="85000"/>
                  <a:lumOff val="15000"/>
                </a:schemeClr>
              </a:solidFill>
              <a:latin typeface="Times New Roman"/>
              <a:cs typeface="Times New Roman"/>
            </a:endParaRPr>
          </a:p>
          <a:p>
            <a:pPr>
              <a:buFont typeface="Arial" charset="2"/>
              <a:buChar char="•"/>
            </a:pPr>
            <a:r>
              <a:rPr lang="en-US">
                <a:solidFill>
                  <a:schemeClr val="tx1">
                    <a:lumMod val="85000"/>
                    <a:lumOff val="15000"/>
                  </a:schemeClr>
                </a:solidFill>
                <a:latin typeface="Times New Roman"/>
                <a:ea typeface="+mn-lt"/>
                <a:cs typeface="Times New Roman"/>
              </a:rPr>
              <a:t>Updates the prediction history table in the UI.</a:t>
            </a:r>
            <a:endParaRPr lang="en-US">
              <a:solidFill>
                <a:schemeClr val="tx1">
                  <a:lumMod val="85000"/>
                  <a:lumOff val="15000"/>
                </a:schemeClr>
              </a:solidFill>
              <a:latin typeface="Times New Roman"/>
              <a:cs typeface="Times New Roman"/>
            </a:endParaRPr>
          </a:p>
          <a:p>
            <a:pPr marL="0" indent="0">
              <a:buNone/>
            </a:pPr>
            <a:endParaRPr lang="en-US" sz="1000" b="1">
              <a:solidFill>
                <a:srgbClr val="AFB7C7"/>
              </a:solidFill>
              <a:latin typeface="Century Gothic"/>
              <a:cs typeface="Times New Roman"/>
            </a:endParaRPr>
          </a:p>
          <a:p>
            <a:pPr>
              <a:buFont typeface="Arial" charset="2"/>
              <a:buChar char="•"/>
            </a:pPr>
            <a:endParaRPr lang="en-US">
              <a:latin typeface="Times New Roman"/>
              <a:cs typeface="Times New Roman"/>
            </a:endParaRPr>
          </a:p>
        </p:txBody>
      </p:sp>
    </p:spTree>
    <p:extLst>
      <p:ext uri="{BB962C8B-B14F-4D97-AF65-F5344CB8AC3E}">
        <p14:creationId xmlns:p14="http://schemas.microsoft.com/office/powerpoint/2010/main" val="1528276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403BE-0DD2-0C1F-4C2B-B67BF140FDD1}"/>
              </a:ext>
            </a:extLst>
          </p:cNvPr>
          <p:cNvSpPr>
            <a:spLocks noGrp="1"/>
          </p:cNvSpPr>
          <p:nvPr>
            <p:ph type="title"/>
          </p:nvPr>
        </p:nvSpPr>
        <p:spPr>
          <a:xfrm>
            <a:off x="1644018" y="681619"/>
            <a:ext cx="8911687" cy="777683"/>
          </a:xfrm>
        </p:spPr>
        <p:txBody>
          <a:bodyPr/>
          <a:lstStyle/>
          <a:p>
            <a:r>
              <a:rPr lang="en-US" dirty="0">
                <a:latin typeface="Times New Roman"/>
                <a:cs typeface="Times New Roman"/>
              </a:rPr>
              <a:t>Output</a:t>
            </a:r>
          </a:p>
        </p:txBody>
      </p:sp>
      <p:sp>
        <p:nvSpPr>
          <p:cNvPr id="3" name="Text Placeholder 2">
            <a:extLst>
              <a:ext uri="{FF2B5EF4-FFF2-40B4-BE49-F238E27FC236}">
                <a16:creationId xmlns:a16="http://schemas.microsoft.com/office/drawing/2014/main" id="{BC10F074-BA44-4CDE-8482-14954B17DAA1}"/>
              </a:ext>
            </a:extLst>
          </p:cNvPr>
          <p:cNvSpPr>
            <a:spLocks noGrp="1"/>
          </p:cNvSpPr>
          <p:nvPr>
            <p:ph type="body" idx="1"/>
          </p:nvPr>
        </p:nvSpPr>
        <p:spPr>
          <a:xfrm>
            <a:off x="2263637" y="1469495"/>
            <a:ext cx="3992732" cy="576262"/>
          </a:xfrm>
        </p:spPr>
        <p:txBody>
          <a:bodyPr/>
          <a:lstStyle/>
          <a:p>
            <a:r>
              <a:rPr lang="en-US" dirty="0">
                <a:solidFill>
                  <a:schemeClr val="tx1"/>
                </a:solidFill>
                <a:latin typeface="Times New Roman"/>
                <a:cs typeface="Times New Roman"/>
              </a:rPr>
              <a:t>Input:</a:t>
            </a:r>
          </a:p>
        </p:txBody>
      </p:sp>
      <p:pic>
        <p:nvPicPr>
          <p:cNvPr id="7" name="Content Placeholder 6" descr="A screenshot of a computer&#10;&#10;AI-generated content may be incorrect.">
            <a:extLst>
              <a:ext uri="{FF2B5EF4-FFF2-40B4-BE49-F238E27FC236}">
                <a16:creationId xmlns:a16="http://schemas.microsoft.com/office/drawing/2014/main" id="{9DC549E7-8F14-E637-A653-F2B996517D10}"/>
              </a:ext>
            </a:extLst>
          </p:cNvPr>
          <p:cNvPicPr>
            <a:picLocks noGrp="1" noChangeAspect="1"/>
          </p:cNvPicPr>
          <p:nvPr>
            <p:ph sz="half" idx="2"/>
          </p:nvPr>
        </p:nvPicPr>
        <p:blipFill>
          <a:blip r:embed="rId2"/>
          <a:stretch>
            <a:fillRect/>
          </a:stretch>
        </p:blipFill>
        <p:spPr>
          <a:xfrm>
            <a:off x="2421732" y="2251625"/>
            <a:ext cx="3312004" cy="37330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 Placeholder 4">
            <a:extLst>
              <a:ext uri="{FF2B5EF4-FFF2-40B4-BE49-F238E27FC236}">
                <a16:creationId xmlns:a16="http://schemas.microsoft.com/office/drawing/2014/main" id="{DBD1A64B-FCAC-CE7B-876D-0227CAEC2C5C}"/>
              </a:ext>
            </a:extLst>
          </p:cNvPr>
          <p:cNvSpPr>
            <a:spLocks noGrp="1"/>
          </p:cNvSpPr>
          <p:nvPr>
            <p:ph type="body" sz="quarter" idx="3"/>
          </p:nvPr>
        </p:nvSpPr>
        <p:spPr>
          <a:xfrm>
            <a:off x="7334101" y="1466267"/>
            <a:ext cx="3999001" cy="576262"/>
          </a:xfrm>
        </p:spPr>
        <p:txBody>
          <a:bodyPr/>
          <a:lstStyle/>
          <a:p>
            <a:r>
              <a:rPr lang="en-US" dirty="0">
                <a:solidFill>
                  <a:schemeClr val="tx1"/>
                </a:solidFill>
                <a:latin typeface="Times New Roman"/>
                <a:cs typeface="Times New Roman"/>
              </a:rPr>
              <a:t>Output:</a:t>
            </a:r>
          </a:p>
        </p:txBody>
      </p:sp>
      <p:pic>
        <p:nvPicPr>
          <p:cNvPr id="8" name="Content Placeholder 7" descr="A screenshot of a test results&#10;&#10;AI-generated content may be incorrect.">
            <a:extLst>
              <a:ext uri="{FF2B5EF4-FFF2-40B4-BE49-F238E27FC236}">
                <a16:creationId xmlns:a16="http://schemas.microsoft.com/office/drawing/2014/main" id="{06C84725-9741-1270-3CD7-3E97101297EB}"/>
              </a:ext>
            </a:extLst>
          </p:cNvPr>
          <p:cNvPicPr>
            <a:picLocks noGrp="1" noChangeAspect="1"/>
          </p:cNvPicPr>
          <p:nvPr>
            <p:ph sz="quarter" idx="4"/>
          </p:nvPr>
        </p:nvPicPr>
        <p:blipFill>
          <a:blip r:embed="rId3"/>
          <a:stretch>
            <a:fillRect/>
          </a:stretch>
        </p:blipFill>
        <p:spPr>
          <a:xfrm>
            <a:off x="7663579" y="2248667"/>
            <a:ext cx="3316676" cy="37181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96944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64AC8-3F0F-22DD-EE31-87AFF9CBD4B6}"/>
              </a:ext>
            </a:extLst>
          </p:cNvPr>
          <p:cNvSpPr>
            <a:spLocks noGrp="1"/>
          </p:cNvSpPr>
          <p:nvPr>
            <p:ph type="title"/>
          </p:nvPr>
        </p:nvSpPr>
        <p:spPr>
          <a:xfrm>
            <a:off x="1644018" y="681619"/>
            <a:ext cx="8911687" cy="763306"/>
          </a:xfrm>
        </p:spPr>
        <p:txBody>
          <a:bodyPr/>
          <a:lstStyle/>
          <a:p>
            <a:r>
              <a:rPr lang="en-US" dirty="0">
                <a:latin typeface="Times New Roman"/>
                <a:cs typeface="Times New Roman"/>
              </a:rPr>
              <a:t>Predicted History</a:t>
            </a:r>
          </a:p>
        </p:txBody>
      </p:sp>
      <p:sp>
        <p:nvSpPr>
          <p:cNvPr id="3" name="Text Placeholder 2">
            <a:extLst>
              <a:ext uri="{FF2B5EF4-FFF2-40B4-BE49-F238E27FC236}">
                <a16:creationId xmlns:a16="http://schemas.microsoft.com/office/drawing/2014/main" id="{E3173C86-0874-5FA4-365B-EFFCEA336179}"/>
              </a:ext>
            </a:extLst>
          </p:cNvPr>
          <p:cNvSpPr>
            <a:spLocks noGrp="1"/>
          </p:cNvSpPr>
          <p:nvPr>
            <p:ph type="body" idx="1"/>
          </p:nvPr>
        </p:nvSpPr>
        <p:spPr>
          <a:xfrm flipV="1">
            <a:off x="2939373" y="1772588"/>
            <a:ext cx="3992732" cy="142606"/>
          </a:xfrm>
        </p:spPr>
        <p:txBody>
          <a:bodyPr/>
          <a:lstStyle/>
          <a:p>
            <a:endParaRPr lang="en-US"/>
          </a:p>
        </p:txBody>
      </p:sp>
      <p:pic>
        <p:nvPicPr>
          <p:cNvPr id="7" name="Content Placeholder 6" descr="A white background with black text&#10;&#10;AI-generated content may be incorrect.">
            <a:extLst>
              <a:ext uri="{FF2B5EF4-FFF2-40B4-BE49-F238E27FC236}">
                <a16:creationId xmlns:a16="http://schemas.microsoft.com/office/drawing/2014/main" id="{D2DDE9DD-78EE-AE04-C8B7-AACE1E1FB832}"/>
              </a:ext>
            </a:extLst>
          </p:cNvPr>
          <p:cNvPicPr>
            <a:picLocks noGrp="1" noChangeAspect="1"/>
          </p:cNvPicPr>
          <p:nvPr>
            <p:ph sz="half" idx="2"/>
          </p:nvPr>
        </p:nvPicPr>
        <p:blipFill>
          <a:blip r:embed="rId2"/>
          <a:stretch>
            <a:fillRect/>
          </a:stretch>
        </p:blipFill>
        <p:spPr>
          <a:xfrm>
            <a:off x="1995264" y="2969685"/>
            <a:ext cx="3762375" cy="16787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 Placeholder 4">
            <a:extLst>
              <a:ext uri="{FF2B5EF4-FFF2-40B4-BE49-F238E27FC236}">
                <a16:creationId xmlns:a16="http://schemas.microsoft.com/office/drawing/2014/main" id="{B53E2A7A-E47B-3686-29F6-99FFDECE9C1F}"/>
              </a:ext>
            </a:extLst>
          </p:cNvPr>
          <p:cNvSpPr>
            <a:spLocks noGrp="1"/>
          </p:cNvSpPr>
          <p:nvPr>
            <p:ph type="body" sz="quarter" idx="3"/>
          </p:nvPr>
        </p:nvSpPr>
        <p:spPr>
          <a:xfrm>
            <a:off x="7334101" y="776154"/>
            <a:ext cx="3999001" cy="576262"/>
          </a:xfrm>
        </p:spPr>
        <p:txBody>
          <a:bodyPr/>
          <a:lstStyle/>
          <a:p>
            <a:endParaRPr lang="en-US"/>
          </a:p>
        </p:txBody>
      </p:sp>
      <p:pic>
        <p:nvPicPr>
          <p:cNvPr id="8" name="Content Placeholder 7" descr="A screenshot of a computer&#10;&#10;AI-generated content may be incorrect.">
            <a:extLst>
              <a:ext uri="{FF2B5EF4-FFF2-40B4-BE49-F238E27FC236}">
                <a16:creationId xmlns:a16="http://schemas.microsoft.com/office/drawing/2014/main" id="{74E744F6-210D-55BD-6349-B0DF184E6A9B}"/>
              </a:ext>
            </a:extLst>
          </p:cNvPr>
          <p:cNvPicPr>
            <a:picLocks noGrp="1" noChangeAspect="1"/>
          </p:cNvPicPr>
          <p:nvPr>
            <p:ph sz="quarter" idx="4"/>
          </p:nvPr>
        </p:nvPicPr>
        <p:blipFill>
          <a:blip r:embed="rId3"/>
          <a:stretch>
            <a:fillRect/>
          </a:stretch>
        </p:blipFill>
        <p:spPr>
          <a:xfrm>
            <a:off x="6934365" y="2186305"/>
            <a:ext cx="3265481" cy="37997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Arrow: Right 9">
            <a:extLst>
              <a:ext uri="{FF2B5EF4-FFF2-40B4-BE49-F238E27FC236}">
                <a16:creationId xmlns:a16="http://schemas.microsoft.com/office/drawing/2014/main" id="{48FB4735-932E-2B94-383B-F7D253ED8DFA}"/>
              </a:ext>
            </a:extLst>
          </p:cNvPr>
          <p:cNvSpPr/>
          <p:nvPr/>
        </p:nvSpPr>
        <p:spPr>
          <a:xfrm>
            <a:off x="5782235" y="3600823"/>
            <a:ext cx="1150470" cy="4034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238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D0CA9-1047-565F-25B2-F1109CD14FD5}"/>
              </a:ext>
            </a:extLst>
          </p:cNvPr>
          <p:cNvSpPr>
            <a:spLocks noGrp="1"/>
          </p:cNvSpPr>
          <p:nvPr>
            <p:ph type="title"/>
          </p:nvPr>
        </p:nvSpPr>
        <p:spPr>
          <a:xfrm>
            <a:off x="1644018" y="595355"/>
            <a:ext cx="8911687" cy="1280890"/>
          </a:xfrm>
        </p:spPr>
        <p:txBody>
          <a:bodyPr/>
          <a:lstStyle/>
          <a:p>
            <a:r>
              <a:rPr lang="en-US" dirty="0">
                <a:latin typeface="Times New Roman"/>
                <a:ea typeface="+mj-lt"/>
                <a:cs typeface="Times New Roman"/>
              </a:rPr>
              <a:t>Advantages and Limitations</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92B086ED-60AE-0813-FE16-2DEAFF7FE065}"/>
              </a:ext>
            </a:extLst>
          </p:cNvPr>
          <p:cNvSpPr>
            <a:spLocks noGrp="1"/>
          </p:cNvSpPr>
          <p:nvPr>
            <p:ph sz="half" idx="1"/>
          </p:nvPr>
        </p:nvSpPr>
        <p:spPr>
          <a:xfrm>
            <a:off x="2100382" y="1716657"/>
            <a:ext cx="4313864" cy="4539621"/>
          </a:xfrm>
        </p:spPr>
        <p:txBody>
          <a:bodyPr vert="horz" lIns="91440" tIns="45720" rIns="91440" bIns="45720" rtlCol="0" anchor="t">
            <a:normAutofit lnSpcReduction="10000"/>
          </a:bodyPr>
          <a:lstStyle/>
          <a:p>
            <a:pPr marL="0" indent="0">
              <a:buNone/>
            </a:pPr>
            <a:r>
              <a:rPr lang="en-US" sz="2400" b="1" dirty="0">
                <a:latin typeface="Times New Roman"/>
                <a:cs typeface="Times New Roman"/>
              </a:rPr>
              <a:t>Pros</a:t>
            </a:r>
            <a:r>
              <a:rPr lang="en-US" sz="2800" b="1" dirty="0">
                <a:latin typeface="Times New Roman"/>
                <a:cs typeface="Times New Roman"/>
              </a:rPr>
              <a:t>:</a:t>
            </a:r>
            <a:endParaRPr lang="en-US" sz="2800" b="1"/>
          </a:p>
          <a:p>
            <a:pPr marL="0" indent="0">
              <a:buNone/>
            </a:pPr>
            <a:r>
              <a:rPr lang="en-US" b="1" dirty="0">
                <a:latin typeface="Times New Roman"/>
                <a:ea typeface="+mn-lt"/>
                <a:cs typeface="Times New Roman"/>
              </a:rPr>
              <a:t>Instant Safety Alerts</a:t>
            </a:r>
            <a:endParaRPr lang="en-US">
              <a:latin typeface="Times New Roman"/>
              <a:cs typeface="Times New Roman"/>
            </a:endParaRPr>
          </a:p>
          <a:p>
            <a:pPr>
              <a:buFont typeface="Arial" charset="2"/>
              <a:buChar char="•"/>
            </a:pPr>
            <a:r>
              <a:rPr lang="en-US" dirty="0">
                <a:latin typeface="Times New Roman"/>
                <a:ea typeface="+mn-lt"/>
                <a:cs typeface="Times New Roman"/>
              </a:rPr>
              <a:t>Provides immediate safety predictions based on real-time sensor data, helping prevent accidents.</a:t>
            </a:r>
          </a:p>
          <a:p>
            <a:pPr marL="0" indent="0">
              <a:buNone/>
            </a:pPr>
            <a:r>
              <a:rPr lang="en-US" b="1" dirty="0">
                <a:latin typeface="Times New Roman"/>
                <a:ea typeface="+mn-lt"/>
                <a:cs typeface="Times New Roman"/>
              </a:rPr>
              <a:t>Accurate, Data-Driven Decisions</a:t>
            </a:r>
            <a:endParaRPr lang="en-US">
              <a:latin typeface="Times New Roman"/>
              <a:cs typeface="Times New Roman"/>
            </a:endParaRPr>
          </a:p>
          <a:p>
            <a:pPr>
              <a:buFont typeface="Arial" charset="2"/>
              <a:buChar char="•"/>
            </a:pPr>
            <a:r>
              <a:rPr lang="en-US" dirty="0">
                <a:latin typeface="Times New Roman"/>
                <a:ea typeface="+mn-lt"/>
                <a:cs typeface="Times New Roman"/>
              </a:rPr>
              <a:t>Uses sensor data to make reliable predictions, eliminating guesswork and human error.</a:t>
            </a:r>
          </a:p>
          <a:p>
            <a:pPr marL="0" indent="0">
              <a:buNone/>
            </a:pPr>
            <a:r>
              <a:rPr lang="en-US" b="1" dirty="0">
                <a:latin typeface="Times New Roman"/>
                <a:ea typeface="+mn-lt"/>
                <a:cs typeface="Times New Roman"/>
              </a:rPr>
              <a:t>History Tracking for Improvement</a:t>
            </a:r>
            <a:endParaRPr lang="en-US">
              <a:latin typeface="Times New Roman"/>
              <a:cs typeface="Times New Roman"/>
            </a:endParaRPr>
          </a:p>
          <a:p>
            <a:pPr>
              <a:buFont typeface="Arial" charset="2"/>
              <a:buChar char="•"/>
            </a:pPr>
            <a:r>
              <a:rPr lang="en-US" dirty="0">
                <a:latin typeface="Times New Roman"/>
                <a:ea typeface="+mn-lt"/>
                <a:cs typeface="Times New Roman"/>
              </a:rPr>
              <a:t>Keeps a record of all predictions, enabling data analysis to improve safety over time.</a:t>
            </a:r>
          </a:p>
          <a:p>
            <a:pPr>
              <a:buFont typeface="Arial" charset="2"/>
              <a:buChar char="•"/>
            </a:pPr>
            <a:endParaRPr lang="en-US" b="1" dirty="0">
              <a:latin typeface="Times New Roman"/>
              <a:cs typeface="Times New Roman"/>
            </a:endParaRPr>
          </a:p>
          <a:p>
            <a:pPr>
              <a:buFont typeface="Arial" charset="2"/>
              <a:buChar char="•"/>
            </a:pPr>
            <a:endParaRPr lang="en-US" dirty="0">
              <a:latin typeface="Times New Roman"/>
              <a:cs typeface="Times New Roman"/>
            </a:endParaRPr>
          </a:p>
        </p:txBody>
      </p:sp>
      <p:sp>
        <p:nvSpPr>
          <p:cNvPr id="4" name="Content Placeholder 3">
            <a:extLst>
              <a:ext uri="{FF2B5EF4-FFF2-40B4-BE49-F238E27FC236}">
                <a16:creationId xmlns:a16="http://schemas.microsoft.com/office/drawing/2014/main" id="{7E7DDC54-F237-94D5-635E-79BF715A569E}"/>
              </a:ext>
            </a:extLst>
          </p:cNvPr>
          <p:cNvSpPr>
            <a:spLocks noGrp="1"/>
          </p:cNvSpPr>
          <p:nvPr>
            <p:ph sz="half" idx="2"/>
          </p:nvPr>
        </p:nvSpPr>
        <p:spPr>
          <a:xfrm>
            <a:off x="6630030" y="1723656"/>
            <a:ext cx="4313864" cy="4539621"/>
          </a:xfrm>
        </p:spPr>
        <p:txBody>
          <a:bodyPr vert="horz" lIns="91440" tIns="45720" rIns="91440" bIns="45720" rtlCol="0" anchor="t">
            <a:normAutofit lnSpcReduction="10000"/>
          </a:bodyPr>
          <a:lstStyle/>
          <a:p>
            <a:pPr marL="0" indent="0">
              <a:buNone/>
            </a:pPr>
            <a:r>
              <a:rPr lang="en-US" sz="2600" b="1" dirty="0">
                <a:latin typeface="Times New Roman"/>
                <a:cs typeface="Times New Roman"/>
              </a:rPr>
              <a:t>Cons</a:t>
            </a:r>
            <a:r>
              <a:rPr lang="en-US" sz="2800" b="1" dirty="0">
                <a:latin typeface="Times New Roman"/>
                <a:cs typeface="Times New Roman"/>
              </a:rPr>
              <a:t>:</a:t>
            </a:r>
            <a:endParaRPr lang="en-US" sz="2800" b="1"/>
          </a:p>
          <a:p>
            <a:pPr marL="0" indent="0">
              <a:buNone/>
            </a:pPr>
            <a:r>
              <a:rPr lang="en-US" b="1" dirty="0">
                <a:latin typeface="Times New Roman"/>
                <a:ea typeface="+mn-lt"/>
                <a:cs typeface="Times New Roman"/>
              </a:rPr>
              <a:t>Relies on Sensor Accuracy</a:t>
            </a:r>
            <a:endParaRPr lang="en-US" dirty="0">
              <a:latin typeface="Times New Roman"/>
              <a:ea typeface="+mn-lt"/>
              <a:cs typeface="Times New Roman"/>
            </a:endParaRPr>
          </a:p>
          <a:p>
            <a:pPr>
              <a:buFont typeface="Arial" charset="2"/>
              <a:buChar char="•"/>
            </a:pPr>
            <a:r>
              <a:rPr lang="en-US" dirty="0">
                <a:latin typeface="Times New Roman"/>
                <a:ea typeface="+mn-lt"/>
                <a:cs typeface="Times New Roman"/>
              </a:rPr>
              <a:t>Inaccurate or faulty sensors can lead to wrong safety predictions.</a:t>
            </a:r>
          </a:p>
          <a:p>
            <a:pPr marL="0" indent="0">
              <a:buNone/>
            </a:pPr>
            <a:r>
              <a:rPr lang="en-US" b="1" dirty="0">
                <a:latin typeface="Times New Roman"/>
                <a:ea typeface="+mn-lt"/>
                <a:cs typeface="Times New Roman"/>
              </a:rPr>
              <a:t>No Real-Time Model Updates</a:t>
            </a:r>
            <a:endParaRPr lang="en-US">
              <a:latin typeface="Times New Roman"/>
              <a:cs typeface="Times New Roman"/>
            </a:endParaRPr>
          </a:p>
          <a:p>
            <a:pPr>
              <a:buFont typeface="Arial" charset="2"/>
              <a:buChar char="•"/>
            </a:pPr>
            <a:r>
              <a:rPr lang="en-US" dirty="0">
                <a:latin typeface="Times New Roman"/>
                <a:ea typeface="+mn-lt"/>
                <a:cs typeface="Times New Roman"/>
              </a:rPr>
              <a:t>The system uses a fixed model, so it can't adapt to new data without manual updates.</a:t>
            </a:r>
          </a:p>
          <a:p>
            <a:pPr marL="0" indent="0">
              <a:buNone/>
            </a:pPr>
            <a:r>
              <a:rPr lang="en-US" b="1" dirty="0">
                <a:latin typeface="Times New Roman"/>
                <a:ea typeface="+mn-lt"/>
                <a:cs typeface="Times New Roman"/>
              </a:rPr>
              <a:t>Not Ideal for Large-Scale Use</a:t>
            </a:r>
            <a:endParaRPr lang="en-US">
              <a:latin typeface="Times New Roman"/>
              <a:cs typeface="Times New Roman"/>
            </a:endParaRPr>
          </a:p>
          <a:p>
            <a:pPr>
              <a:buFont typeface="Arial" charset="2"/>
              <a:buChar char="•"/>
            </a:pPr>
            <a:r>
              <a:rPr lang="en-US" dirty="0">
                <a:latin typeface="Times New Roman"/>
                <a:ea typeface="+mn-lt"/>
                <a:cs typeface="Times New Roman"/>
              </a:rPr>
              <a:t>SQLite may struggle with performance as the amount of data grows.</a:t>
            </a:r>
          </a:p>
          <a:p>
            <a:pPr>
              <a:buFont typeface="Arial" charset="2"/>
              <a:buChar char="•"/>
            </a:pPr>
            <a:endParaRPr lang="en-US" b="1" dirty="0">
              <a:latin typeface="Times New Roman"/>
              <a:cs typeface="Times New Roman"/>
            </a:endParaRPr>
          </a:p>
        </p:txBody>
      </p:sp>
    </p:spTree>
    <p:extLst>
      <p:ext uri="{BB962C8B-B14F-4D97-AF65-F5344CB8AC3E}">
        <p14:creationId xmlns:p14="http://schemas.microsoft.com/office/powerpoint/2010/main" val="146656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77E15-F96D-FB2D-F1EE-146110A7919F}"/>
              </a:ext>
            </a:extLst>
          </p:cNvPr>
          <p:cNvSpPr>
            <a:spLocks noGrp="1"/>
          </p:cNvSpPr>
          <p:nvPr>
            <p:ph type="title"/>
          </p:nvPr>
        </p:nvSpPr>
        <p:spPr>
          <a:xfrm>
            <a:off x="1514623" y="595355"/>
            <a:ext cx="8911687" cy="878324"/>
          </a:xfrm>
        </p:spPr>
        <p:txBody>
          <a:bodyPr/>
          <a:lstStyle/>
          <a:p>
            <a:r>
              <a:rPr lang="en-US" dirty="0">
                <a:latin typeface="Times New Roman"/>
                <a:ea typeface="+mj-lt"/>
                <a:cs typeface="Times New Roman"/>
              </a:rPr>
              <a:t>Future Scope</a:t>
            </a:r>
            <a:endParaRPr lang="en-US" dirty="0">
              <a:latin typeface="Times New Roman"/>
              <a:cs typeface="Times New Roman"/>
            </a:endParaRPr>
          </a:p>
        </p:txBody>
      </p:sp>
      <p:sp>
        <p:nvSpPr>
          <p:cNvPr id="3" name="Content Placeholder 2">
            <a:extLst>
              <a:ext uri="{FF2B5EF4-FFF2-40B4-BE49-F238E27FC236}">
                <a16:creationId xmlns:a16="http://schemas.microsoft.com/office/drawing/2014/main" id="{7BEB6981-A29F-7663-1416-09EDBAB9F3FC}"/>
              </a:ext>
            </a:extLst>
          </p:cNvPr>
          <p:cNvSpPr>
            <a:spLocks noGrp="1"/>
          </p:cNvSpPr>
          <p:nvPr>
            <p:ph idx="1"/>
          </p:nvPr>
        </p:nvSpPr>
        <p:spPr>
          <a:xfrm>
            <a:off x="2028495" y="1472242"/>
            <a:ext cx="8915400" cy="4942187"/>
          </a:xfrm>
        </p:spPr>
        <p:txBody>
          <a:bodyPr vert="horz" lIns="91440" tIns="45720" rIns="91440" bIns="45720" rtlCol="0" anchor="t">
            <a:normAutofit/>
          </a:bodyPr>
          <a:lstStyle/>
          <a:p>
            <a:pPr marL="0" indent="0">
              <a:buNone/>
            </a:pPr>
            <a:r>
              <a:rPr lang="en-US" b="1" dirty="0">
                <a:latin typeface="Times New Roman"/>
                <a:ea typeface="+mn-lt"/>
                <a:cs typeface="Times New Roman"/>
              </a:rPr>
              <a:t>Model Retraining</a:t>
            </a:r>
            <a:r>
              <a:rPr lang="en-US" dirty="0">
                <a:latin typeface="Times New Roman"/>
                <a:ea typeface="+mn-lt"/>
                <a:cs typeface="Times New Roman"/>
              </a:rPr>
              <a:t>:</a:t>
            </a:r>
            <a:endParaRPr lang="en-US">
              <a:latin typeface="Times New Roman"/>
              <a:cs typeface="Times New Roman"/>
            </a:endParaRPr>
          </a:p>
          <a:p>
            <a:pPr>
              <a:buFont typeface="Arial" charset="2"/>
              <a:buChar char="•"/>
            </a:pPr>
            <a:r>
              <a:rPr lang="en-US" dirty="0">
                <a:latin typeface="Times New Roman"/>
                <a:ea typeface="+mn-lt"/>
                <a:cs typeface="Times New Roman"/>
              </a:rPr>
              <a:t>Enable regular updates and retraining of the model based on new sensor data to improve predictions over time.</a:t>
            </a:r>
            <a:endParaRPr lang="en-US">
              <a:latin typeface="Times New Roman"/>
              <a:cs typeface="Times New Roman"/>
            </a:endParaRPr>
          </a:p>
          <a:p>
            <a:pPr marL="0" indent="0">
              <a:buNone/>
            </a:pPr>
            <a:r>
              <a:rPr lang="en-US" b="1" dirty="0">
                <a:latin typeface="Times New Roman"/>
                <a:ea typeface="+mn-lt"/>
                <a:cs typeface="Times New Roman"/>
              </a:rPr>
              <a:t>Advanced Error Handling</a:t>
            </a:r>
            <a:r>
              <a:rPr lang="en-US" dirty="0">
                <a:latin typeface="Times New Roman"/>
                <a:ea typeface="+mn-lt"/>
                <a:cs typeface="Times New Roman"/>
              </a:rPr>
              <a:t>:</a:t>
            </a:r>
            <a:endParaRPr lang="en-US">
              <a:latin typeface="Times New Roman"/>
              <a:cs typeface="Times New Roman"/>
            </a:endParaRPr>
          </a:p>
          <a:p>
            <a:pPr>
              <a:buFont typeface="Arial" charset="2"/>
              <a:buChar char="•"/>
            </a:pPr>
            <a:r>
              <a:rPr lang="en-US" dirty="0">
                <a:latin typeface="Times New Roman"/>
                <a:ea typeface="+mn-lt"/>
                <a:cs typeface="Times New Roman"/>
              </a:rPr>
              <a:t>Implement more robust validation and error handling for the API and sensor data input.</a:t>
            </a:r>
            <a:endParaRPr lang="en-US">
              <a:latin typeface="Times New Roman"/>
              <a:cs typeface="Times New Roman"/>
            </a:endParaRPr>
          </a:p>
          <a:p>
            <a:pPr marL="0" indent="0">
              <a:buNone/>
            </a:pPr>
            <a:r>
              <a:rPr lang="en-US" b="1" dirty="0">
                <a:latin typeface="Times New Roman"/>
                <a:ea typeface="+mn-lt"/>
                <a:cs typeface="Times New Roman"/>
              </a:rPr>
              <a:t>Cloud Deployment</a:t>
            </a:r>
            <a:r>
              <a:rPr lang="en-US" dirty="0">
                <a:latin typeface="Times New Roman"/>
                <a:ea typeface="+mn-lt"/>
                <a:cs typeface="Times New Roman"/>
              </a:rPr>
              <a:t>:</a:t>
            </a:r>
            <a:endParaRPr lang="en-US">
              <a:latin typeface="Times New Roman"/>
              <a:cs typeface="Times New Roman"/>
            </a:endParaRPr>
          </a:p>
          <a:p>
            <a:pPr>
              <a:buFont typeface="Arial" charset="2"/>
              <a:buChar char="•"/>
            </a:pPr>
            <a:r>
              <a:rPr lang="en-US" dirty="0">
                <a:latin typeface="Times New Roman"/>
                <a:ea typeface="+mn-lt"/>
                <a:cs typeface="Times New Roman"/>
              </a:rPr>
              <a:t>Deploy the system on cloud platforms (AWS, Azure, etc.) for greater scalability and public access.</a:t>
            </a:r>
            <a:endParaRPr lang="en-US">
              <a:latin typeface="Times New Roman"/>
              <a:cs typeface="Times New Roman"/>
            </a:endParaRPr>
          </a:p>
          <a:p>
            <a:pPr marL="0" indent="0">
              <a:buNone/>
            </a:pPr>
            <a:r>
              <a:rPr lang="en-US" b="1" dirty="0">
                <a:latin typeface="Times New Roman"/>
                <a:ea typeface="+mn-lt"/>
                <a:cs typeface="Times New Roman"/>
              </a:rPr>
              <a:t>Integration with Vehicle Systems</a:t>
            </a:r>
            <a:r>
              <a:rPr lang="en-US" dirty="0">
                <a:latin typeface="Times New Roman"/>
                <a:ea typeface="+mn-lt"/>
                <a:cs typeface="Times New Roman"/>
              </a:rPr>
              <a:t>:</a:t>
            </a:r>
            <a:endParaRPr lang="en-US">
              <a:latin typeface="Times New Roman"/>
              <a:cs typeface="Times New Roman"/>
            </a:endParaRPr>
          </a:p>
          <a:p>
            <a:pPr>
              <a:buFont typeface="Arial" charset="2"/>
              <a:buChar char="•"/>
            </a:pPr>
            <a:r>
              <a:rPr lang="en-US" dirty="0">
                <a:latin typeface="Times New Roman"/>
                <a:ea typeface="+mn-lt"/>
                <a:cs typeface="Times New Roman"/>
              </a:rPr>
              <a:t>Integrate the system directly with onboard vehicle sensors for real-time safety alerts during driving.</a:t>
            </a:r>
            <a:endParaRPr lang="en-US">
              <a:latin typeface="Times New Roman"/>
              <a:cs typeface="Times New Roman"/>
            </a:endParaRPr>
          </a:p>
          <a:p>
            <a:pPr marL="0" indent="0">
              <a:buNone/>
            </a:pPr>
            <a:r>
              <a:rPr lang="en-US" b="1" dirty="0">
                <a:latin typeface="Times New Roman"/>
                <a:ea typeface="+mn-lt"/>
                <a:cs typeface="Times New Roman"/>
              </a:rPr>
              <a:t>Automated Testing</a:t>
            </a:r>
            <a:r>
              <a:rPr lang="en-US" dirty="0">
                <a:latin typeface="Times New Roman"/>
                <a:ea typeface="+mn-lt"/>
                <a:cs typeface="Times New Roman"/>
              </a:rPr>
              <a:t>:</a:t>
            </a:r>
            <a:endParaRPr lang="en-US">
              <a:latin typeface="Times New Roman"/>
              <a:cs typeface="Times New Roman"/>
            </a:endParaRPr>
          </a:p>
          <a:p>
            <a:pPr>
              <a:buFont typeface="Arial" charset="2"/>
              <a:buChar char="•"/>
            </a:pPr>
            <a:r>
              <a:rPr lang="en-US" dirty="0">
                <a:latin typeface="Times New Roman"/>
                <a:ea typeface="+mn-lt"/>
                <a:cs typeface="Times New Roman"/>
              </a:rPr>
              <a:t>Implement unit and integration tests to improve the stability of the application.</a:t>
            </a:r>
            <a:endParaRPr lang="en-US" dirty="0">
              <a:latin typeface="Times New Roman"/>
              <a:cs typeface="Times New Roman"/>
            </a:endParaRPr>
          </a:p>
          <a:p>
            <a:pPr>
              <a:buFont typeface="Arial" charset="2"/>
              <a:buChar char="•"/>
            </a:pPr>
            <a:endParaRPr lang="en-US" dirty="0"/>
          </a:p>
        </p:txBody>
      </p:sp>
    </p:spTree>
    <p:extLst>
      <p:ext uri="{BB962C8B-B14F-4D97-AF65-F5344CB8AC3E}">
        <p14:creationId xmlns:p14="http://schemas.microsoft.com/office/powerpoint/2010/main" val="393716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0E202-FA90-E3CF-5E65-3DED9A4C8CF2}"/>
              </a:ext>
            </a:extLst>
          </p:cNvPr>
          <p:cNvSpPr>
            <a:spLocks noGrp="1"/>
          </p:cNvSpPr>
          <p:nvPr>
            <p:ph type="title"/>
          </p:nvPr>
        </p:nvSpPr>
        <p:spPr>
          <a:xfrm>
            <a:off x="1644019" y="595355"/>
            <a:ext cx="8911687" cy="820815"/>
          </a:xfrm>
        </p:spPr>
        <p:txBody>
          <a:bodyPr/>
          <a:lstStyle/>
          <a:p>
            <a:r>
              <a:rPr lang="en-US" dirty="0">
                <a:latin typeface="Times New Roman"/>
                <a:ea typeface="+mj-lt"/>
                <a:cs typeface="Times New Roman"/>
              </a:rPr>
              <a:t>Conclusion</a:t>
            </a:r>
            <a:endParaRPr lang="en-US" dirty="0">
              <a:latin typeface="Times New Roman"/>
              <a:cs typeface="Times New Roman"/>
            </a:endParaRPr>
          </a:p>
        </p:txBody>
      </p:sp>
      <p:sp>
        <p:nvSpPr>
          <p:cNvPr id="3" name="Content Placeholder 2">
            <a:extLst>
              <a:ext uri="{FF2B5EF4-FFF2-40B4-BE49-F238E27FC236}">
                <a16:creationId xmlns:a16="http://schemas.microsoft.com/office/drawing/2014/main" id="{A26454B9-7C9D-01F2-40DB-3A44A3BB479E}"/>
              </a:ext>
            </a:extLst>
          </p:cNvPr>
          <p:cNvSpPr>
            <a:spLocks noGrp="1"/>
          </p:cNvSpPr>
          <p:nvPr>
            <p:ph idx="1"/>
          </p:nvPr>
        </p:nvSpPr>
        <p:spPr>
          <a:xfrm>
            <a:off x="2301664" y="2104845"/>
            <a:ext cx="8915400" cy="3777622"/>
          </a:xfrm>
        </p:spPr>
        <p:txBody>
          <a:bodyPr vert="horz" lIns="91440" tIns="45720" rIns="91440" bIns="45720" rtlCol="0" anchor="t">
            <a:normAutofit/>
          </a:bodyPr>
          <a:lstStyle/>
          <a:p>
            <a:pPr>
              <a:buFont typeface="Arial" charset="2"/>
              <a:buChar char="•"/>
            </a:pPr>
            <a:r>
              <a:rPr lang="en-US" sz="2000" dirty="0">
                <a:latin typeface="Times New Roman"/>
                <a:ea typeface="+mn-lt"/>
                <a:cs typeface="Times New Roman"/>
              </a:rPr>
              <a:t>The </a:t>
            </a:r>
            <a:r>
              <a:rPr lang="en-US" sz="2000" b="1" dirty="0">
                <a:latin typeface="Times New Roman"/>
                <a:ea typeface="+mn-lt"/>
                <a:cs typeface="Times New Roman"/>
              </a:rPr>
              <a:t>Vehicle Safety Prediction System</a:t>
            </a:r>
            <a:r>
              <a:rPr lang="en-US" sz="2000" dirty="0">
                <a:latin typeface="Times New Roman"/>
                <a:ea typeface="+mn-lt"/>
                <a:cs typeface="Times New Roman"/>
              </a:rPr>
              <a:t> helps improve vehicle safety by providing real-time, data-driven predictions based on sensor data. It tracks prediction history, allowing for better decision-making over time. Although there are some limitations, like reliance on accurate sensors and scalability issues with SQLite, the system is a solid step toward safer driving. Future improvements, such as cloud deployment and real-time model updates, will make the system even more reliable and scalable.</a:t>
            </a:r>
            <a:endParaRPr lang="en-US" sz="2000" dirty="0">
              <a:latin typeface="Times New Roman"/>
              <a:cs typeface="Times New Roman"/>
            </a:endParaRPr>
          </a:p>
        </p:txBody>
      </p:sp>
    </p:spTree>
    <p:extLst>
      <p:ext uri="{BB962C8B-B14F-4D97-AF65-F5344CB8AC3E}">
        <p14:creationId xmlns:p14="http://schemas.microsoft.com/office/powerpoint/2010/main" val="2220605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54F203-0CE1-26D0-1C5F-5FD8446C6F74}"/>
              </a:ext>
            </a:extLst>
          </p:cNvPr>
          <p:cNvSpPr txBox="1"/>
          <p:nvPr/>
        </p:nvSpPr>
        <p:spPr>
          <a:xfrm>
            <a:off x="4128839" y="3011633"/>
            <a:ext cx="393652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dirty="0">
                <a:latin typeface="Times New Roman"/>
                <a:cs typeface="Times New Roman"/>
              </a:rPr>
              <a:t>Thank You</a:t>
            </a:r>
            <a:endParaRPr lang="en-US" dirty="0"/>
          </a:p>
        </p:txBody>
      </p:sp>
    </p:spTree>
    <p:extLst>
      <p:ext uri="{BB962C8B-B14F-4D97-AF65-F5344CB8AC3E}">
        <p14:creationId xmlns:p14="http://schemas.microsoft.com/office/powerpoint/2010/main" val="302757439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27</Slides>
  <Notes>0</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Wisp</vt:lpstr>
      <vt:lpstr>Vehicle Collision Prediction Using FastAPI &amp; ML </vt:lpstr>
      <vt:lpstr>Problem Statement</vt:lpstr>
      <vt:lpstr>Objectives</vt:lpstr>
      <vt:lpstr>Technology's Used</vt:lpstr>
      <vt:lpstr>Work Flow</vt:lpstr>
      <vt:lpstr>Dataset Generation for Collision Risk Detection</vt:lpstr>
      <vt:lpstr>Data Generation Process</vt:lpstr>
      <vt:lpstr>Collision Risk Classification </vt:lpstr>
      <vt:lpstr>Data Set</vt:lpstr>
      <vt:lpstr>Machine Learning Pipeline Overview</vt:lpstr>
      <vt:lpstr>Data Preprocessing and Noise Simulation</vt:lpstr>
      <vt:lpstr>Class Overlap and Data Preparation</vt:lpstr>
      <vt:lpstr>Model Training and Cross Validation</vt:lpstr>
      <vt:lpstr>Model Evaluation and Deployment</vt:lpstr>
      <vt:lpstr>Output Image</vt:lpstr>
      <vt:lpstr>Web Development Overview</vt:lpstr>
      <vt:lpstr>Frontend: React Application</vt:lpstr>
      <vt:lpstr>FrontEnd UI</vt:lpstr>
      <vt:lpstr>Backend: FastAPI</vt:lpstr>
      <vt:lpstr>Database: SQLite</vt:lpstr>
      <vt:lpstr>Frontend and Backend Communication</vt:lpstr>
      <vt:lpstr>Output</vt:lpstr>
      <vt:lpstr>Predicted History</vt:lpstr>
      <vt:lpstr>Advantages and Limitations</vt:lpstr>
      <vt:lpstr>Future Scope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234</cp:revision>
  <dcterms:created xsi:type="dcterms:W3CDTF">2026-03-04T09:11:54Z</dcterms:created>
  <dcterms:modified xsi:type="dcterms:W3CDTF">2026-03-11T06:51:35Z</dcterms:modified>
</cp:coreProperties>
</file>